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295" r:id="rId9"/>
    <p:sldId id="375" r:id="rId10"/>
    <p:sldId id="348" r:id="rId11"/>
    <p:sldId id="376" r:id="rId12"/>
    <p:sldId id="380" r:id="rId13"/>
    <p:sldId id="377" r:id="rId14"/>
    <p:sldId id="378" r:id="rId15"/>
    <p:sldId id="379" r:id="rId16"/>
    <p:sldId id="381" r:id="rId17"/>
    <p:sldId id="382" r:id="rId18"/>
    <p:sldId id="383" r:id="rId19"/>
    <p:sldId id="387" r:id="rId20"/>
    <p:sldId id="385" r:id="rId21"/>
    <p:sldId id="384" r:id="rId22"/>
    <p:sldId id="386" r:id="rId23"/>
    <p:sldId id="398" r:id="rId24"/>
    <p:sldId id="388" r:id="rId25"/>
    <p:sldId id="391" r:id="rId26"/>
    <p:sldId id="392" r:id="rId27"/>
    <p:sldId id="393" r:id="rId28"/>
    <p:sldId id="394" r:id="rId29"/>
    <p:sldId id="395" r:id="rId30"/>
    <p:sldId id="396" r:id="rId31"/>
    <p:sldId id="397" r:id="rId32"/>
    <p:sldId id="335" r:id="rId33"/>
    <p:sldId id="390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0000"/>
    <a:srgbClr val="000000"/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svg"/><Relationship Id="rId11" Type="http://schemas.openxmlformats.org/officeDocument/2006/relationships/image" Target="../media/image6.png"/><Relationship Id="rId5" Type="http://schemas.openxmlformats.org/officeDocument/2006/relationships/image" Target="../media/image69.png"/><Relationship Id="rId10" Type="http://schemas.openxmlformats.org/officeDocument/2006/relationships/image" Target="../media/image57.png"/><Relationship Id="rId4" Type="http://schemas.openxmlformats.org/officeDocument/2006/relationships/image" Target="../media/image68.png"/><Relationship Id="rId9" Type="http://schemas.openxmlformats.org/officeDocument/2006/relationships/image" Target="../media/image7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0.svg"/><Relationship Id="rId7" Type="http://schemas.openxmlformats.org/officeDocument/2006/relationships/image" Target="../media/image5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svg"/><Relationship Id="rId5" Type="http://schemas.openxmlformats.org/officeDocument/2006/relationships/image" Target="../media/image43.png"/><Relationship Id="rId10" Type="http://schemas.openxmlformats.org/officeDocument/2006/relationships/image" Target="../media/image72.png"/><Relationship Id="rId4" Type="http://schemas.openxmlformats.org/officeDocument/2006/relationships/image" Target="../media/image42.pn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70.svg"/><Relationship Id="rId10" Type="http://schemas.openxmlformats.org/officeDocument/2006/relationships/image" Target="../media/image6.png"/><Relationship Id="rId4" Type="http://schemas.openxmlformats.org/officeDocument/2006/relationships/image" Target="../media/image69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9.png"/><Relationship Id="rId18" Type="http://schemas.openxmlformats.org/officeDocument/2006/relationships/image" Target="../media/image57.png"/><Relationship Id="rId26" Type="http://schemas.openxmlformats.org/officeDocument/2006/relationships/image" Target="../media/image88.svg"/><Relationship Id="rId3" Type="http://schemas.openxmlformats.org/officeDocument/2006/relationships/image" Target="../media/image43.png"/><Relationship Id="rId21" Type="http://schemas.openxmlformats.org/officeDocument/2006/relationships/image" Target="../media/image83.png"/><Relationship Id="rId7" Type="http://schemas.openxmlformats.org/officeDocument/2006/relationships/image" Target="../media/image73.png"/><Relationship Id="rId12" Type="http://schemas.openxmlformats.org/officeDocument/2006/relationships/image" Target="../media/image78.svg"/><Relationship Id="rId17" Type="http://schemas.openxmlformats.org/officeDocument/2006/relationships/image" Target="../media/image82.svg"/><Relationship Id="rId25" Type="http://schemas.openxmlformats.org/officeDocument/2006/relationships/image" Target="../media/image87.png"/><Relationship Id="rId2" Type="http://schemas.openxmlformats.org/officeDocument/2006/relationships/image" Target="../media/image42.png"/><Relationship Id="rId16" Type="http://schemas.openxmlformats.org/officeDocument/2006/relationships/image" Target="../media/image8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77.png"/><Relationship Id="rId24" Type="http://schemas.openxmlformats.org/officeDocument/2006/relationships/image" Target="../media/image86.svg"/><Relationship Id="rId5" Type="http://schemas.openxmlformats.org/officeDocument/2006/relationships/image" Target="../media/image58.png"/><Relationship Id="rId15" Type="http://schemas.openxmlformats.org/officeDocument/2006/relationships/image" Target="../media/image1.png"/><Relationship Id="rId23" Type="http://schemas.openxmlformats.org/officeDocument/2006/relationships/image" Target="../media/image85.png"/><Relationship Id="rId10" Type="http://schemas.openxmlformats.org/officeDocument/2006/relationships/image" Target="../media/image76.svg"/><Relationship Id="rId19" Type="http://schemas.openxmlformats.org/officeDocument/2006/relationships/image" Target="../media/image6.png"/><Relationship Id="rId4" Type="http://schemas.openxmlformats.org/officeDocument/2006/relationships/image" Target="../media/image44.svg"/><Relationship Id="rId9" Type="http://schemas.openxmlformats.org/officeDocument/2006/relationships/image" Target="../media/image75.png"/><Relationship Id="rId14" Type="http://schemas.openxmlformats.org/officeDocument/2006/relationships/image" Target="../media/image80.svg"/><Relationship Id="rId22" Type="http://schemas.openxmlformats.org/officeDocument/2006/relationships/image" Target="../media/image8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1.png"/><Relationship Id="rId4" Type="http://schemas.openxmlformats.org/officeDocument/2006/relationships/image" Target="../media/image9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97.png"/><Relationship Id="rId7" Type="http://schemas.openxmlformats.org/officeDocument/2006/relationships/image" Target="../media/image10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7.png"/><Relationship Id="rId7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5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5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4.png"/><Relationship Id="rId11" Type="http://schemas.openxmlformats.org/officeDocument/2006/relationships/image" Target="../media/image57.png"/><Relationship Id="rId5" Type="http://schemas.openxmlformats.org/officeDocument/2006/relationships/image" Target="../media/image113.svg"/><Relationship Id="rId10" Type="http://schemas.openxmlformats.org/officeDocument/2006/relationships/image" Target="../media/image117.svg"/><Relationship Id="rId4" Type="http://schemas.openxmlformats.org/officeDocument/2006/relationships/image" Target="../media/image112.png"/><Relationship Id="rId9" Type="http://schemas.openxmlformats.org/officeDocument/2006/relationships/image" Target="../media/image1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latinLnBrk="0"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2390" cy="789305"/>
            <a:chOff x="6242050" y="4278630"/>
            <a:chExt cx="3882390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시연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1BFECF-5A1F-4826-A94C-A8C69C95B4D7}"/>
              </a:ext>
            </a:extLst>
          </p:cNvPr>
          <p:cNvGrpSpPr/>
          <p:nvPr/>
        </p:nvGrpSpPr>
        <p:grpSpPr>
          <a:xfrm>
            <a:off x="6242050" y="5017135"/>
            <a:ext cx="3882390" cy="584775"/>
            <a:chOff x="6242050" y="4278630"/>
            <a:chExt cx="3882390" cy="58477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2891CD4-9CAC-4677-B07E-3CEE701146DD}"/>
                </a:ext>
              </a:extLst>
            </p:cNvPr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자체 평가 의견</a:t>
              </a:r>
              <a:endParaRPr lang="ko-KR" altLang="en-US" sz="2000" b="1" dirty="0">
                <a:ln w="9525" cap="flat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570019-D52E-472B-8A35-E61C8E043BF2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894895-F39E-4034-A63E-6691E7B68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5" y="2386964"/>
            <a:ext cx="6861155" cy="35806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832532" y="2386964"/>
            <a:ext cx="3312353" cy="2327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ㆍ단순</a:t>
            </a:r>
            <a:r>
              <a:rPr lang="ko-KR" altLang="en-US" sz="1500" b="1" dirty="0"/>
              <a:t> 카테고리에 의한 서비스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ㆍ사용자의</a:t>
            </a:r>
            <a:r>
              <a:rPr lang="ko-KR" altLang="en-US" sz="1500" b="1" dirty="0"/>
              <a:t> 주변 환경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날씨</a:t>
            </a:r>
            <a:r>
              <a:rPr lang="en-US" altLang="ko-KR" sz="1500" b="1" dirty="0"/>
              <a:t> </a:t>
            </a:r>
            <a:r>
              <a:rPr lang="ko-KR" altLang="en-US" sz="1500" b="1" dirty="0"/>
              <a:t>등</a:t>
            </a:r>
            <a:r>
              <a:rPr lang="en-US" altLang="ko-KR" sz="1500" b="1" dirty="0"/>
              <a:t>)</a:t>
            </a:r>
            <a:r>
              <a:rPr lang="ko-KR" altLang="en-US" sz="1500" b="1" dirty="0"/>
              <a:t>을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</a:t>
            </a:r>
            <a:r>
              <a:rPr lang="ko-KR" altLang="en-US" sz="1500" b="1" dirty="0"/>
              <a:t>활용한 음식 추천이 이루어지지 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않음</a:t>
            </a:r>
          </a:p>
          <a:p>
            <a:pPr>
              <a:lnSpc>
                <a:spcPct val="200000"/>
              </a:lnSpc>
            </a:pP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1113727" y="2174040"/>
            <a:ext cx="6104219" cy="417128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38ECBF1-9638-4AA9-A427-C866095CF0C4}"/>
              </a:ext>
            </a:extLst>
          </p:cNvPr>
          <p:cNvSpPr txBox="1"/>
          <p:nvPr/>
        </p:nvSpPr>
        <p:spPr>
          <a:xfrm>
            <a:off x="7832532" y="2386964"/>
            <a:ext cx="3312353" cy="1865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ㆍ여러가지</a:t>
            </a:r>
            <a:r>
              <a:rPr lang="ko-KR" altLang="en-US" sz="1500" b="1" dirty="0"/>
              <a:t> 음식 나열로 인한 사용자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피로도 상승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ㆍ획일화된</a:t>
            </a:r>
            <a:r>
              <a:rPr lang="ko-KR" altLang="en-US" sz="1500" b="1" dirty="0"/>
              <a:t> 음식 메뉴 추천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 ( </a:t>
            </a:r>
            <a:r>
              <a:rPr lang="ko-KR" altLang="en-US" sz="1500" b="1" dirty="0"/>
              <a:t>점심 메뉴 추천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저녁 메뉴 추천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4876067"/>
            <a:ext cx="2122805" cy="69006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해당 카테고리의 음식점 목록을 거리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감성점수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리뷰개수로 랭킹을 정해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/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841511"/>
              </p:ext>
            </p:extLst>
          </p:nvPr>
        </p:nvGraphicFramePr>
        <p:xfrm>
          <a:off x="1811524" y="2528899"/>
          <a:ext cx="8496945" cy="397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315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2963982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700648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</a:tblGrid>
              <a:tr h="7953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긍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부정</a:t>
                      </a:r>
                      <a:r>
                        <a:rPr lang="en-US" altLang="ko-KR" dirty="0"/>
                        <a:t>,</a:t>
                      </a:r>
                    </a:p>
                    <a:p>
                      <a:pPr latinLnBrk="1"/>
                      <a:r>
                        <a:rPr lang="ko-KR" altLang="en-US" dirty="0"/>
                        <a:t>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6956885"/>
                  </a:ext>
                </a:extLst>
              </a:tr>
            </a:tbl>
          </a:graphicData>
        </a:graphic>
      </p:graphicFrame>
      <p:grpSp>
        <p:nvGrpSpPr>
          <p:cNvPr id="21" name="Group 5">
            <a:extLst>
              <a:ext uri="{FF2B5EF4-FFF2-40B4-BE49-F238E27FC236}">
                <a16:creationId xmlns:a16="http://schemas.microsoft.com/office/drawing/2014/main" id="{EDF273A4-8C63-4A4B-8A1F-115D609CFE01}"/>
              </a:ext>
            </a:extLst>
          </p:cNvPr>
          <p:cNvGrpSpPr/>
          <p:nvPr/>
        </p:nvGrpSpPr>
        <p:grpSpPr>
          <a:xfrm>
            <a:off x="473710" y="2005154"/>
            <a:ext cx="11410950" cy="379730"/>
            <a:chOff x="473710" y="1906905"/>
            <a:chExt cx="11410950" cy="379730"/>
          </a:xfrm>
        </p:grpSpPr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E82D5E83-9540-4510-9723-ACCD20395588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4" name="Rect 0">
              <a:extLst>
                <a:ext uri="{FF2B5EF4-FFF2-40B4-BE49-F238E27FC236}">
                  <a16:creationId xmlns:a16="http://schemas.microsoft.com/office/drawing/2014/main" id="{2CF6E5F0-440B-4C4F-8307-569014A40C6F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 데이터 목록</a:t>
              </a:r>
            </a:p>
          </p:txBody>
        </p:sp>
        <p:grpSp>
          <p:nvGrpSpPr>
            <p:cNvPr id="25" name="Group 5">
              <a:extLst>
                <a:ext uri="{FF2B5EF4-FFF2-40B4-BE49-F238E27FC236}">
                  <a16:creationId xmlns:a16="http://schemas.microsoft.com/office/drawing/2014/main" id="{E76155EA-8982-40C0-B492-8B53B537062B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26" name="Rect 0">
                <a:extLst>
                  <a:ext uri="{FF2B5EF4-FFF2-40B4-BE49-F238E27FC236}">
                    <a16:creationId xmlns:a16="http://schemas.microsoft.com/office/drawing/2014/main" id="{F551F352-1CA7-4E9B-B11C-53040CB3BEF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27" name="Rect 0">
                <a:extLst>
                  <a:ext uri="{FF2B5EF4-FFF2-40B4-BE49-F238E27FC236}">
                    <a16:creationId xmlns:a16="http://schemas.microsoft.com/office/drawing/2014/main" id="{E4EE8157-C4BE-481E-A97D-8FC68480B2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 활용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45A1-1783-4FE2-A331-096FD145B909}"/>
              </a:ext>
            </a:extLst>
          </p:cNvPr>
          <p:cNvSpPr txBox="1"/>
          <p:nvPr/>
        </p:nvSpPr>
        <p:spPr>
          <a:xfrm>
            <a:off x="760730" y="2537777"/>
            <a:ext cx="11017224" cy="2774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용도 </a:t>
            </a:r>
            <a:r>
              <a:rPr lang="en-US" altLang="ko-KR" dirty="0"/>
              <a:t>: </a:t>
            </a:r>
            <a:r>
              <a:rPr lang="ko-KR" altLang="en-US" dirty="0"/>
              <a:t>음식점 </a:t>
            </a:r>
            <a:r>
              <a:rPr lang="ko-KR" altLang="en-US" dirty="0" err="1"/>
              <a:t>추천시</a:t>
            </a:r>
            <a:r>
              <a:rPr lang="ko-KR" altLang="en-US" dirty="0"/>
              <a:t> 추천의 품질을 높이기 위해 리뷰 데이터를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</a:t>
            </a:r>
            <a:r>
              <a:rPr lang="ko-KR" altLang="en-US" dirty="0" err="1"/>
              <a:t>라벨링하여</a:t>
            </a:r>
            <a:r>
              <a:rPr lang="ko-KR" altLang="en-US" dirty="0"/>
              <a:t> 활용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대상 </a:t>
            </a:r>
            <a:r>
              <a:rPr lang="en-US" altLang="ko-KR" dirty="0"/>
              <a:t>: </a:t>
            </a:r>
            <a:r>
              <a:rPr lang="ko-KR" altLang="en-US" dirty="0"/>
              <a:t>네이버 </a:t>
            </a:r>
            <a:r>
              <a:rPr lang="ko-KR" altLang="en-US" dirty="0" err="1"/>
              <a:t>플레이스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방법 </a:t>
            </a:r>
            <a:r>
              <a:rPr lang="en-US" altLang="ko-KR" dirty="0"/>
              <a:t>: </a:t>
            </a:r>
            <a:r>
              <a:rPr lang="ko-KR" altLang="en-US" dirty="0" err="1"/>
              <a:t>셀리니움을</a:t>
            </a:r>
            <a:r>
              <a:rPr lang="ko-KR" altLang="en-US" dirty="0"/>
              <a:t> 이용하여 수집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결과 </a:t>
            </a:r>
            <a:r>
              <a:rPr lang="en-US" altLang="ko-KR" dirty="0"/>
              <a:t>: 5</a:t>
            </a:r>
            <a:r>
              <a:rPr lang="ko-KR" altLang="en-US" dirty="0" err="1"/>
              <a:t>만건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데이터 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26B0762-794A-4828-AE49-1B653742C9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9534" y="4945334"/>
            <a:ext cx="6980952" cy="14476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43257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AA447974-24F6-4D83-910C-3126F374C2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26" y="2591838"/>
            <a:ext cx="5053360" cy="369332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24B32F5-FB76-4F7F-B817-6A269A8AC864}"/>
              </a:ext>
            </a:extLst>
          </p:cNvPr>
          <p:cNvSpPr txBox="1"/>
          <p:nvPr/>
        </p:nvSpPr>
        <p:spPr>
          <a:xfrm>
            <a:off x="6197587" y="2658348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1790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전처리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9F891-917E-4916-8236-95093A9DAF6A}"/>
              </a:ext>
            </a:extLst>
          </p:cNvPr>
          <p:cNvSpPr txBox="1"/>
          <p:nvPr/>
        </p:nvSpPr>
        <p:spPr>
          <a:xfrm>
            <a:off x="715850" y="2456892"/>
            <a:ext cx="11017224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/>
              <a:t>처리절차 </a:t>
            </a:r>
            <a:r>
              <a:rPr lang="en-US" altLang="ko-KR" b="1" dirty="0"/>
              <a:t>: </a:t>
            </a:r>
            <a:r>
              <a:rPr lang="en-US" altLang="ko-KR" b="1" dirty="0" err="1"/>
              <a:t>konlpy</a:t>
            </a:r>
            <a:r>
              <a:rPr lang="ko-KR" altLang="en-US" b="1" dirty="0"/>
              <a:t> 형태소 분석 </a:t>
            </a:r>
            <a:r>
              <a:rPr lang="en-US" altLang="ko-KR" b="1" dirty="0"/>
              <a:t>&gt; </a:t>
            </a:r>
            <a:r>
              <a:rPr lang="ko-KR" altLang="en-US" b="1" dirty="0"/>
              <a:t>토큰화 </a:t>
            </a:r>
            <a:r>
              <a:rPr lang="en-US" altLang="ko-KR" b="1" dirty="0"/>
              <a:t>&gt; </a:t>
            </a:r>
            <a:r>
              <a:rPr lang="ko-KR" altLang="en-US" b="1" dirty="0" err="1"/>
              <a:t>불용어</a:t>
            </a:r>
            <a:r>
              <a:rPr lang="ko-KR" altLang="en-US" b="1" dirty="0"/>
              <a:t> 제거</a:t>
            </a:r>
            <a:r>
              <a:rPr lang="en-US" altLang="ko-KR" b="1" dirty="0"/>
              <a:t> &gt; TF-IDF </a:t>
            </a:r>
            <a:r>
              <a:rPr lang="ko-KR" altLang="en-US" b="1" dirty="0"/>
              <a:t>추출 </a:t>
            </a:r>
            <a:r>
              <a:rPr lang="en-US" altLang="ko-KR" b="1" dirty="0"/>
              <a:t>&gt; </a:t>
            </a:r>
            <a:r>
              <a:rPr lang="ko-KR" altLang="en-US" b="1" dirty="0" err="1"/>
              <a:t>긍</a:t>
            </a:r>
            <a:r>
              <a:rPr lang="en-US" altLang="ko-KR" b="1" dirty="0"/>
              <a:t>/</a:t>
            </a:r>
            <a:r>
              <a:rPr lang="ko-KR" altLang="en-US" b="1" dirty="0"/>
              <a:t>부정 판단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 err="1"/>
              <a:t>라벨링</a:t>
            </a:r>
            <a:r>
              <a:rPr lang="ko-KR" altLang="en-US" b="1" dirty="0"/>
              <a:t> </a:t>
            </a:r>
            <a:r>
              <a:rPr lang="en-US" altLang="ko-KR" b="1" dirty="0"/>
              <a:t>: </a:t>
            </a:r>
            <a:r>
              <a:rPr lang="ko-KR" altLang="en-US" b="1" dirty="0"/>
              <a:t>단어 추출 후 </a:t>
            </a:r>
            <a:r>
              <a:rPr lang="en-US" altLang="ko-KR" b="1" dirty="0"/>
              <a:t>TF-IDF </a:t>
            </a:r>
            <a:r>
              <a:rPr lang="ko-KR" altLang="en-US" b="1" dirty="0"/>
              <a:t>벡터화</a:t>
            </a:r>
            <a:r>
              <a:rPr lang="en-US" altLang="ko-KR" b="1" dirty="0"/>
              <a:t>, Logistic Regression</a:t>
            </a:r>
            <a:r>
              <a:rPr lang="ko-KR" altLang="en-US" b="1" dirty="0"/>
              <a:t>기반 감성모델을 반복 </a:t>
            </a:r>
            <a:r>
              <a:rPr lang="ko-KR" altLang="en-US" b="1" dirty="0" err="1"/>
              <a:t>재학습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endParaRPr lang="ko-KR" altLang="en-US" b="1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3255F5A-EB27-4C6A-A17F-42570E92A8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4257" y="4064046"/>
            <a:ext cx="8986363" cy="220165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8359A7-F5B2-4AF4-AEA0-34F17D6D1720}"/>
              </a:ext>
            </a:extLst>
          </p:cNvPr>
          <p:cNvSpPr/>
          <p:nvPr/>
        </p:nvSpPr>
        <p:spPr>
          <a:xfrm>
            <a:off x="8544272" y="3987656"/>
            <a:ext cx="1440160" cy="244221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200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(1/2)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B45816FF-588C-4773-A784-E1D3CEB3A0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80132"/>
            <a:ext cx="7880985" cy="382700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FC0C485-06A1-453A-B34A-85C0B2E039D0}"/>
              </a:ext>
            </a:extLst>
          </p:cNvPr>
          <p:cNvSpPr txBox="1"/>
          <p:nvPr/>
        </p:nvSpPr>
        <p:spPr>
          <a:xfrm>
            <a:off x="8548180" y="2675295"/>
            <a:ext cx="3524484" cy="1112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데이터 특성 파악 후 불필요한 피처 제거</a:t>
            </a:r>
            <a:endParaRPr lang="en-US" altLang="ko-KR" b="1" dirty="0"/>
          </a:p>
        </p:txBody>
      </p:sp>
      <p:pic>
        <p:nvPicPr>
          <p:cNvPr id="40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EF425C6A-E2D1-416B-9E8E-625850D83E6F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0796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(2/2)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74C36C8A-B029-4044-81D0-02FD8C72A60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2891644" y="3107423"/>
            <a:ext cx="5287645" cy="321477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F70F13-E309-42CA-AF57-9025467EFA3E}"/>
              </a:ext>
            </a:extLst>
          </p:cNvPr>
          <p:cNvSpPr txBox="1"/>
          <p:nvPr/>
        </p:nvSpPr>
        <p:spPr>
          <a:xfrm>
            <a:off x="8519826" y="2557145"/>
            <a:ext cx="3364834" cy="2774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계절성이 없는 음식 </a:t>
            </a:r>
            <a:br>
              <a:rPr lang="en-US" altLang="ko-KR" b="1" dirty="0"/>
            </a:br>
            <a:r>
              <a:rPr lang="en-US" altLang="ko-KR" b="1" dirty="0"/>
              <a:t> </a:t>
            </a:r>
            <a:r>
              <a:rPr lang="ko-KR" altLang="en-US" b="1" dirty="0"/>
              <a:t>카테고리는 제거 하였으며 </a:t>
            </a:r>
            <a:br>
              <a:rPr lang="en-US" altLang="ko-KR" b="1" dirty="0"/>
            </a:br>
            <a:r>
              <a:rPr lang="ko-KR" altLang="en-US" b="1" dirty="0"/>
              <a:t>위도 경도 컬럼을 추가</a:t>
            </a:r>
            <a:endParaRPr lang="en-US" altLang="ko-KR" b="1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이후 카테고리는 검색 </a:t>
            </a:r>
            <a:r>
              <a:rPr lang="ko-KR" altLang="en-US" b="1" dirty="0" err="1"/>
              <a:t>임베딩에</a:t>
            </a:r>
            <a:r>
              <a:rPr lang="ko-KR" altLang="en-US" b="1" dirty="0"/>
              <a:t> 활용</a:t>
            </a:r>
            <a:endParaRPr lang="en-US" altLang="ko-KR" b="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DCA71417-7AAA-4AC8-97BD-5129FBFFA1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546" y="2413766"/>
            <a:ext cx="4476765" cy="217391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1DF704C-F98A-4F8F-9559-5506D2375D1C}"/>
              </a:ext>
            </a:extLst>
          </p:cNvPr>
          <p:cNvSpPr/>
          <p:nvPr/>
        </p:nvSpPr>
        <p:spPr>
          <a:xfrm>
            <a:off x="6888088" y="2747634"/>
            <a:ext cx="1368152" cy="382906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굽음 14">
            <a:extLst>
              <a:ext uri="{FF2B5EF4-FFF2-40B4-BE49-F238E27FC236}">
                <a16:creationId xmlns:a16="http://schemas.microsoft.com/office/drawing/2014/main" id="{1053F569-0BF2-41DF-82AA-FD439BE76D45}"/>
              </a:ext>
            </a:extLst>
          </p:cNvPr>
          <p:cNvSpPr/>
          <p:nvPr/>
        </p:nvSpPr>
        <p:spPr>
          <a:xfrm flipV="1">
            <a:off x="1734694" y="4662164"/>
            <a:ext cx="864096" cy="601964"/>
          </a:xfrm>
          <a:prstGeom prst="ben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21122297-53C4-4996-8119-A9811DE1D50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9630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데이터베이스 설계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ERD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DB2C066F-9010-4429-ADCA-96C3631C060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730" y="2464554"/>
            <a:ext cx="6102805" cy="390467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0A5784-ECCE-4F65-9983-8AB674047CD4}"/>
              </a:ext>
            </a:extLst>
          </p:cNvPr>
          <p:cNvSpPr txBox="1"/>
          <p:nvPr/>
        </p:nvSpPr>
        <p:spPr>
          <a:xfrm>
            <a:off x="7318895" y="2459034"/>
            <a:ext cx="3959553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/>
              <a:t>수집한 상가목록</a:t>
            </a:r>
            <a:r>
              <a:rPr lang="en-US" altLang="ko-KR" b="1" dirty="0"/>
              <a:t>, </a:t>
            </a:r>
            <a:r>
              <a:rPr lang="ko-KR" altLang="en-US" b="1" dirty="0"/>
              <a:t>리뷰목록과 서비스하며 </a:t>
            </a:r>
            <a:r>
              <a:rPr lang="ko-KR" altLang="en-US" b="1" dirty="0" err="1"/>
              <a:t>얻게될</a:t>
            </a:r>
            <a:r>
              <a:rPr lang="ko-KR" altLang="en-US" b="1" dirty="0"/>
              <a:t> 추천로그</a:t>
            </a:r>
            <a:r>
              <a:rPr lang="en-US" altLang="ko-KR" b="1" dirty="0"/>
              <a:t>, </a:t>
            </a:r>
            <a:r>
              <a:rPr lang="ko-KR" altLang="en-US" b="1" dirty="0"/>
              <a:t>사용자 입력 등 필요한 정보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097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유즈케이스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7" name="그림 3" descr="C:/Users/HIDDLE/AppData/Roaming/PolarisOffice/ETemp/2128_11030056/image89.png">
            <a:extLst>
              <a:ext uri="{FF2B5EF4-FFF2-40B4-BE49-F238E27FC236}">
                <a16:creationId xmlns:a16="http://schemas.microsoft.com/office/drawing/2014/main" id="{FF6062F7-1D14-490A-AAFB-9FE694F827D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89" y="2858692"/>
            <a:ext cx="10345421" cy="322135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8977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사용자 접속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28839E5D-782C-4179-BE7B-6463CC7F5A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580" y="2539422"/>
            <a:ext cx="6729610" cy="400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4079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음식추천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DD260EB2-BBA4-438C-BD88-2BDEE5E15E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628" y="2620673"/>
            <a:ext cx="6431117" cy="36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167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메인화면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843A9EB-DDED-4769-AEB6-598D2660B9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727" y="2636203"/>
            <a:ext cx="4720067" cy="360235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590265F-993D-4C9E-A1BA-DF1E944749D6}"/>
              </a:ext>
            </a:extLst>
          </p:cNvPr>
          <p:cNvSpPr txBox="1"/>
          <p:nvPr/>
        </p:nvSpPr>
        <p:spPr>
          <a:xfrm>
            <a:off x="7017616" y="2667635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b="1" dirty="0"/>
              <a:t>Geolocation API</a:t>
            </a:r>
            <a:r>
              <a:rPr lang="ko-KR" altLang="en-US" b="1" dirty="0"/>
              <a:t>로 위치정보</a:t>
            </a:r>
            <a:r>
              <a:rPr lang="en-US" altLang="ko-KR" b="1" dirty="0"/>
              <a:t> </a:t>
            </a:r>
            <a:r>
              <a:rPr lang="ko-KR" altLang="en-US" b="1" dirty="0"/>
              <a:t>활용 요청을 보낸다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동의 시 사용자의 위치좌표를 얻어 </a:t>
            </a:r>
            <a:r>
              <a:rPr lang="en-US" altLang="ko-KR" b="1" dirty="0" err="1"/>
              <a:t>kakao</a:t>
            </a:r>
            <a:r>
              <a:rPr lang="en-US" altLang="ko-KR" b="1" dirty="0"/>
              <a:t> API</a:t>
            </a:r>
            <a:r>
              <a:rPr lang="ko-KR" altLang="en-US" b="1" dirty="0"/>
              <a:t>에 해당 좌표의 주소를 받는다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지도 업데이트 후 서버에 수집된 정보   전달</a:t>
            </a:r>
          </a:p>
        </p:txBody>
      </p:sp>
    </p:spTree>
    <p:extLst>
      <p:ext uri="{BB962C8B-B14F-4D97-AF65-F5344CB8AC3E}">
        <p14:creationId xmlns:p14="http://schemas.microsoft.com/office/powerpoint/2010/main" val="3632255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접속위치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BFFB042-AD0E-49B9-8118-6C50F86DA862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820307" y="2667635"/>
            <a:ext cx="2761786" cy="351713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A62207A-9DAF-4B8E-A178-00A4AC299FAF}"/>
              </a:ext>
            </a:extLst>
          </p:cNvPr>
          <p:cNvSpPr txBox="1"/>
          <p:nvPr/>
        </p:nvSpPr>
        <p:spPr>
          <a:xfrm>
            <a:off x="5447928" y="2672916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브라우저에서 보낸 위치정보를 </a:t>
            </a:r>
            <a:r>
              <a:rPr lang="en-US" altLang="ko-KR" b="1" dirty="0"/>
              <a:t>LCC DFS</a:t>
            </a:r>
            <a:r>
              <a:rPr lang="ko-KR" altLang="en-US" b="1" dirty="0"/>
              <a:t>좌표 </a:t>
            </a:r>
            <a:r>
              <a:rPr lang="ko-KR" altLang="en-US" b="1" dirty="0" err="1"/>
              <a:t>변환모듈로</a:t>
            </a:r>
            <a:r>
              <a:rPr lang="ko-KR" altLang="en-US" b="1" dirty="0"/>
              <a:t> 변환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변환된 좌표를 기상청 동네예보 </a:t>
            </a:r>
            <a:r>
              <a:rPr lang="en-US" altLang="ko-KR" b="1" dirty="0"/>
              <a:t>API</a:t>
            </a:r>
            <a:r>
              <a:rPr lang="ko-KR" altLang="en-US" b="1" dirty="0"/>
              <a:t>에  전달해 해당 지역의 날씨를 요청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음식 추천 알고리즘 적용 후 날씨정보를 업데이트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21297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420036" y="2596922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사전 학습시킨 추천엔진에 전달해 날씨에 맞는 음식 카테고리를 추천 받는다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브라우저에서 얻은 기타정보와 추천 목록을 로그로 남기고 클라이언트에 돌려준다</a:t>
            </a:r>
            <a:r>
              <a:rPr lang="en-US" altLang="ko-KR" b="1" dirty="0"/>
              <a:t>.</a:t>
            </a:r>
            <a:endParaRPr lang="ko-KR" altLang="en-US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BA5CC59-9B4C-4C8C-A5C0-D1220E4F58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0" y="2627833"/>
            <a:ext cx="5257166" cy="33125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8598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(4/4)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276020" y="2629747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추천 목록 외 사용자가 원하는 음식을 </a:t>
            </a:r>
            <a:r>
              <a:rPr lang="en-US" altLang="ko-KR" b="1" dirty="0"/>
              <a:t>  </a:t>
            </a:r>
            <a:r>
              <a:rPr lang="ko-KR" altLang="en-US" b="1" dirty="0"/>
              <a:t>선택 가능한 </a:t>
            </a:r>
            <a:r>
              <a:rPr lang="ko-KR" altLang="en-US" b="1" dirty="0" err="1"/>
              <a:t>플로팅</a:t>
            </a:r>
            <a:r>
              <a:rPr lang="ko-KR" altLang="en-US" b="1" dirty="0"/>
              <a:t> 메뉴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사용자 위치 주변에서 선택한 음식점   목록을 추천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B1D507D-3492-4084-B8A6-90AB22D08238}"/>
              </a:ext>
            </a:extLst>
          </p:cNvPr>
          <p:cNvGrpSpPr/>
          <p:nvPr/>
        </p:nvGrpSpPr>
        <p:grpSpPr>
          <a:xfrm>
            <a:off x="635635" y="2653673"/>
            <a:ext cx="5068007" cy="2915057"/>
            <a:chOff x="635635" y="2653673"/>
            <a:chExt cx="5068007" cy="2915057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D96C9075-E441-48E0-A498-AAC47980D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5635" y="2653673"/>
              <a:ext cx="5068007" cy="2915057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2AEB3F9-6117-4439-B57F-8CA0292777F5}"/>
                </a:ext>
              </a:extLst>
            </p:cNvPr>
            <p:cNvSpPr/>
            <p:nvPr/>
          </p:nvSpPr>
          <p:spPr>
            <a:xfrm>
              <a:off x="3287688" y="2710180"/>
              <a:ext cx="2415954" cy="2788920"/>
            </a:xfrm>
            <a:prstGeom prst="rect">
              <a:avLst/>
            </a:prstGeom>
            <a:noFill/>
            <a:ln w="38100">
              <a:solidFill>
                <a:srgbClr val="E6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592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(1/3) 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988F70-2A6A-4A04-B21A-D45697D2A630}"/>
              </a:ext>
            </a:extLst>
          </p:cNvPr>
          <p:cNvSpPr txBox="1"/>
          <p:nvPr/>
        </p:nvSpPr>
        <p:spPr>
          <a:xfrm>
            <a:off x="6302966" y="3199467"/>
            <a:ext cx="49663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b="1" dirty="0"/>
              <a:t>입력</a:t>
            </a:r>
            <a:r>
              <a:rPr lang="en-US" altLang="ko-KR" b="1" dirty="0"/>
              <a:t>: </a:t>
            </a:r>
            <a:r>
              <a:rPr lang="ko-KR" altLang="en-US" b="1" dirty="0"/>
              <a:t>계절</a:t>
            </a:r>
            <a:r>
              <a:rPr lang="en-US" altLang="ko-KR" b="1" dirty="0"/>
              <a:t>,</a:t>
            </a:r>
            <a:r>
              <a:rPr lang="ko-KR" altLang="en-US" b="1" dirty="0"/>
              <a:t> 시간</a:t>
            </a:r>
            <a:r>
              <a:rPr lang="en-US" altLang="ko-KR" b="1" dirty="0"/>
              <a:t>, </a:t>
            </a:r>
            <a:r>
              <a:rPr lang="ko-KR" altLang="en-US" b="1" dirty="0"/>
              <a:t>기온</a:t>
            </a:r>
            <a:r>
              <a:rPr lang="en-US" altLang="ko-KR" b="1" dirty="0"/>
              <a:t>, </a:t>
            </a:r>
            <a:r>
              <a:rPr lang="ko-KR" altLang="en-US" b="1" dirty="0"/>
              <a:t>강수량</a:t>
            </a:r>
            <a:r>
              <a:rPr lang="en-US" altLang="ko-KR" b="1" dirty="0"/>
              <a:t>, </a:t>
            </a:r>
            <a:r>
              <a:rPr lang="ko-KR" altLang="en-US" b="1" dirty="0"/>
              <a:t>풍속</a:t>
            </a:r>
            <a:r>
              <a:rPr lang="en-US" altLang="ko-KR" b="1" dirty="0"/>
              <a:t>, </a:t>
            </a:r>
            <a:r>
              <a:rPr lang="ko-KR" altLang="en-US" b="1" dirty="0"/>
              <a:t>습도</a:t>
            </a:r>
            <a:endParaRPr lang="en-US" altLang="ko-KR" b="1" dirty="0"/>
          </a:p>
          <a:p>
            <a:pPr marL="342900" indent="-342900">
              <a:buFontTx/>
              <a:buAutoNum type="arabicPeriod"/>
            </a:pPr>
            <a:endParaRPr lang="ko-KR" altLang="en-US" b="1" dirty="0"/>
          </a:p>
          <a:p>
            <a:pPr marL="342900" indent="-342900">
              <a:buAutoNum type="arabicPeriod"/>
            </a:pPr>
            <a:r>
              <a:rPr lang="ko-KR" altLang="en-US" b="1" dirty="0" err="1"/>
              <a:t>전처리</a:t>
            </a:r>
            <a:r>
              <a:rPr lang="en-US" altLang="ko-KR" b="1" dirty="0"/>
              <a:t>: </a:t>
            </a:r>
            <a:r>
              <a:rPr lang="en-US" altLang="ko-KR" b="1" dirty="0" err="1"/>
              <a:t>StandardScaler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모델</a:t>
            </a:r>
            <a:r>
              <a:rPr lang="en-US" altLang="ko-KR" b="1" dirty="0"/>
              <a:t>: K-Means </a:t>
            </a:r>
            <a:r>
              <a:rPr lang="ko-KR" altLang="en-US" b="1" dirty="0"/>
              <a:t>군집화</a:t>
            </a:r>
          </a:p>
          <a:p>
            <a:pPr marL="342900" indent="-342900">
              <a:buAutoNum type="arabicPeriod"/>
            </a:pPr>
            <a:endParaRPr lang="ko-KR" altLang="en-US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출력</a:t>
            </a:r>
            <a:r>
              <a:rPr lang="en-US" altLang="ko-KR" b="1" dirty="0"/>
              <a:t>: </a:t>
            </a:r>
            <a:r>
              <a:rPr lang="ko-KR" altLang="en-US" b="1" dirty="0"/>
              <a:t>상황에 적합한 음식 카테고리 </a:t>
            </a:r>
            <a:r>
              <a:rPr lang="en-US" altLang="ko-KR" b="1" dirty="0"/>
              <a:t>TOP-N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190262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(2/3) 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77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음식점 추천 로직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24332B3-E21F-4970-9F9A-6897461015F2}"/>
              </a:ext>
            </a:extLst>
          </p:cNvPr>
          <p:cNvSpPr txBox="1"/>
          <p:nvPr/>
        </p:nvSpPr>
        <p:spPr>
          <a:xfrm>
            <a:off x="1129621" y="2874139"/>
            <a:ext cx="49663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최종 점수 </a:t>
            </a:r>
            <a:r>
              <a:rPr lang="en-US" altLang="ko-KR" dirty="0"/>
              <a:t>=</a:t>
            </a:r>
          </a:p>
          <a:p>
            <a:r>
              <a:rPr lang="en-US" altLang="ko-KR" dirty="0"/>
              <a:t>  (</a:t>
            </a:r>
            <a:r>
              <a:rPr lang="ko-KR" altLang="en-US" dirty="0"/>
              <a:t>긍정 리뷰 비율 </a:t>
            </a:r>
            <a:r>
              <a:rPr lang="en-US" altLang="ko-KR" dirty="0"/>
              <a:t>× 0.5) +</a:t>
            </a:r>
          </a:p>
          <a:p>
            <a:r>
              <a:rPr lang="en-US" altLang="ko-KR" dirty="0"/>
              <a:t>  (</a:t>
            </a:r>
            <a:r>
              <a:rPr lang="ko-KR" altLang="en-US" dirty="0"/>
              <a:t>리뷰 수 점수 </a:t>
            </a:r>
            <a:r>
              <a:rPr lang="en-US" altLang="ko-KR" dirty="0"/>
              <a:t>× 0.3) +</a:t>
            </a:r>
          </a:p>
          <a:p>
            <a:r>
              <a:rPr lang="en-US" altLang="ko-KR" dirty="0"/>
              <a:t>  (</a:t>
            </a:r>
            <a:r>
              <a:rPr lang="ko-KR" altLang="en-US" dirty="0"/>
              <a:t>거리 점수 </a:t>
            </a:r>
            <a:r>
              <a:rPr lang="en-US" altLang="ko-KR" dirty="0"/>
              <a:t>× 0.2)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0324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카테고리 유사도 추측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5628B1B-A303-4739-96D8-177195B08964}"/>
              </a:ext>
            </a:extLst>
          </p:cNvPr>
          <p:cNvSpPr txBox="1"/>
          <p:nvPr/>
        </p:nvSpPr>
        <p:spPr>
          <a:xfrm>
            <a:off x="6412872" y="2710010"/>
            <a:ext cx="4869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사용자 오타보정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의미적으로 가장 가까운 단어를 찾아 추천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en-US" altLang="ko-KR" b="1" dirty="0" err="1"/>
              <a:t>db</a:t>
            </a:r>
            <a:r>
              <a:rPr lang="ko-KR" altLang="en-US" b="1" dirty="0"/>
              <a:t>에 넣지 않은 카테고리도 검색 가능</a:t>
            </a:r>
          </a:p>
        </p:txBody>
      </p:sp>
    </p:spTree>
    <p:extLst>
      <p:ext uri="{BB962C8B-B14F-4D97-AF65-F5344CB8AC3E}">
        <p14:creationId xmlns:p14="http://schemas.microsoft.com/office/powerpoint/2010/main" val="606084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77633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3059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66395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788149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6960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훈련생 발표 영상이 아닌 세부 기능 소개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화면 구동 및 기능 동작 여부 시연영상으로 제작한다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0997"/>
            <a:chOff x="375920" y="333375"/>
            <a:chExt cx="5948680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06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4480" cy="1749425"/>
            <a:chOff x="541655" y="4490720"/>
            <a:chExt cx="5364480" cy="1749425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 dirty="0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731802"/>
              <a:ext cx="4623435" cy="1067343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sz="1800" b="1" dirty="0" err="1"/>
                <a:t>ㆍ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개인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로깅 기능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미구현</a:t>
              </a:r>
              <a:endParaRPr lang="en-US" altLang="ko-KR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피드백 반영</a:t>
              </a:r>
              <a:r>
                <a:rPr lang="en-US" altLang="ko-KR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디테일 축소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39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08068" y="2636912"/>
            <a:ext cx="4623435" cy="10673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sz="1800" b="1"/>
              <a:t>ㆍ</a:t>
            </a:r>
            <a:r>
              <a: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기대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 효과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rgbClr val="FFC000"/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사용자 결정 피로 감소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상황 맞춤 추천으로 만족도 향상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821055" y="2649003"/>
            <a:ext cx="4623435" cy="151054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algn="ctr"/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향후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계획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데이터 품질 향상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튜닝 및 변수 추가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실시간 피드백 시스템 구축</a:t>
            </a:r>
          </a:p>
          <a:p>
            <a:pPr algn="ctr">
              <a:lnSpc>
                <a:spcPct val="120000"/>
              </a:lnSpc>
              <a:defRPr/>
            </a:pP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panose="0000050000000000000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539586" y="4689140"/>
            <a:ext cx="49210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성과</a:t>
            </a:r>
            <a:endParaRPr lang="en-US" altLang="ko-KR" dirty="0">
              <a:solidFill>
                <a:schemeClr val="bg2">
                  <a:lumMod val="25000"/>
                </a:schemeClr>
              </a:solidFill>
              <a:ea typeface="세방고딕 Regular" panose="00000500000000000000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결과 시각화 도구 개선</a:t>
            </a: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BC37232F-D4AA-40CC-8C63-34BE21641E79}"/>
              </a:ext>
            </a:extLst>
          </p:cNvPr>
          <p:cNvSpPr txBox="1">
            <a:spLocks/>
          </p:cNvSpPr>
          <p:nvPr/>
        </p:nvSpPr>
        <p:spPr>
          <a:xfrm>
            <a:off x="740952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프로젝트 평가</a:t>
            </a:r>
          </a:p>
        </p:txBody>
      </p:sp>
    </p:spTree>
    <p:extLst>
      <p:ext uri="{BB962C8B-B14F-4D97-AF65-F5344CB8AC3E}">
        <p14:creationId xmlns:p14="http://schemas.microsoft.com/office/powerpoint/2010/main" val="393158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Pages>34</Pages>
  <Words>1375</Words>
  <Characters>0</Characters>
  <Application>Microsoft Office PowerPoint</Application>
  <DocSecurity>0</DocSecurity>
  <PresentationFormat>와이드스크린</PresentationFormat>
  <Lines>0</Lines>
  <Paragraphs>363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63</cp:revision>
  <dcterms:modified xsi:type="dcterms:W3CDTF">2025-12-18T09:51:02Z</dcterms:modified>
  <cp:version>9.103.82.44099</cp:version>
</cp:coreProperties>
</file>