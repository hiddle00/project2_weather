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sldIdLst>
    <p:sldId id="289" r:id="rId2"/>
    <p:sldId id="291" r:id="rId3"/>
    <p:sldId id="333" r:id="rId4"/>
    <p:sldId id="365" r:id="rId5"/>
    <p:sldId id="372" r:id="rId6"/>
    <p:sldId id="364" r:id="rId7"/>
    <p:sldId id="294" r:id="rId8"/>
    <p:sldId id="295" r:id="rId9"/>
    <p:sldId id="375" r:id="rId10"/>
    <p:sldId id="348" r:id="rId11"/>
    <p:sldId id="376" r:id="rId12"/>
    <p:sldId id="380" r:id="rId13"/>
    <p:sldId id="377" r:id="rId14"/>
    <p:sldId id="378" r:id="rId15"/>
    <p:sldId id="379" r:id="rId16"/>
    <p:sldId id="381" r:id="rId17"/>
    <p:sldId id="382" r:id="rId18"/>
    <p:sldId id="383" r:id="rId19"/>
    <p:sldId id="387" r:id="rId20"/>
    <p:sldId id="370" r:id="rId21"/>
    <p:sldId id="385" r:id="rId22"/>
    <p:sldId id="384" r:id="rId23"/>
    <p:sldId id="386" r:id="rId24"/>
    <p:sldId id="388" r:id="rId25"/>
    <p:sldId id="335" r:id="rId26"/>
    <p:sldId id="38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8" userDrawn="1">
          <p15:clr>
            <a:srgbClr val="A4A3A4"/>
          </p15:clr>
        </p15:guide>
        <p15:guide id="2" pos="323" userDrawn="1">
          <p15:clr>
            <a:srgbClr val="A4A3A4"/>
          </p15:clr>
        </p15:guide>
        <p15:guide id="3" pos="7399" userDrawn="1">
          <p15:clr>
            <a:srgbClr val="A4A3A4"/>
          </p15:clr>
        </p15:guide>
        <p15:guide id="4" pos="3838" userDrawn="1">
          <p15:clr>
            <a:srgbClr val="A4A3A4"/>
          </p15:clr>
        </p15:guide>
        <p15:guide id="5" orient="horz" pos="40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6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28" autoAdjust="0"/>
    <p:restoredTop sz="96344" autoAdjust="0"/>
  </p:normalViewPr>
  <p:slideViewPr>
    <p:cSldViewPr snapToObjects="1">
      <p:cViewPr>
        <p:scale>
          <a:sx n="100" d="100"/>
          <a:sy n="100" d="100"/>
        </p:scale>
        <p:origin x="1428" y="390"/>
      </p:cViewPr>
      <p:guideLst>
        <p:guide orient="horz" pos="1568"/>
        <p:guide pos="323"/>
        <p:guide pos="7399"/>
        <p:guide pos="3838"/>
        <p:guide orient="horz" pos="40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18" Type="http://schemas.openxmlformats.org/officeDocument/2006/relationships/image" Target="../media/image34.png"/><Relationship Id="rId3" Type="http://schemas.openxmlformats.org/officeDocument/2006/relationships/image" Target="../media/image19.svg"/><Relationship Id="rId21" Type="http://schemas.openxmlformats.org/officeDocument/2006/relationships/image" Target="../media/image37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17" Type="http://schemas.openxmlformats.org/officeDocument/2006/relationships/image" Target="../media/image33.sv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23" Type="http://schemas.openxmlformats.org/officeDocument/2006/relationships/image" Target="../media/image39.svg"/><Relationship Id="rId10" Type="http://schemas.openxmlformats.org/officeDocument/2006/relationships/image" Target="../media/image26.png"/><Relationship Id="rId19" Type="http://schemas.openxmlformats.org/officeDocument/2006/relationships/image" Target="../media/image35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png"/><Relationship Id="rId18" Type="http://schemas.openxmlformats.org/officeDocument/2006/relationships/image" Target="../media/image56.svg"/><Relationship Id="rId26" Type="http://schemas.openxmlformats.org/officeDocument/2006/relationships/image" Target="../media/image62.png"/><Relationship Id="rId3" Type="http://schemas.openxmlformats.org/officeDocument/2006/relationships/image" Target="../media/image41.svg"/><Relationship Id="rId21" Type="http://schemas.openxmlformats.org/officeDocument/2006/relationships/image" Target="../media/image7.sv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17" Type="http://schemas.openxmlformats.org/officeDocument/2006/relationships/image" Target="../media/image55.png"/><Relationship Id="rId25" Type="http://schemas.openxmlformats.org/officeDocument/2006/relationships/image" Target="../media/image61.svg"/><Relationship Id="rId2" Type="http://schemas.openxmlformats.org/officeDocument/2006/relationships/image" Target="../media/image40.png"/><Relationship Id="rId16" Type="http://schemas.openxmlformats.org/officeDocument/2006/relationships/image" Target="../media/image54.svg"/><Relationship Id="rId20" Type="http://schemas.openxmlformats.org/officeDocument/2006/relationships/image" Target="../media/image6.png"/><Relationship Id="rId29" Type="http://schemas.openxmlformats.org/officeDocument/2006/relationships/image" Target="../media/image6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24" Type="http://schemas.openxmlformats.org/officeDocument/2006/relationships/image" Target="../media/image60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59.svg"/><Relationship Id="rId28" Type="http://schemas.openxmlformats.org/officeDocument/2006/relationships/image" Target="../media/image64.png"/><Relationship Id="rId10" Type="http://schemas.openxmlformats.org/officeDocument/2006/relationships/image" Target="../media/image48.svg"/><Relationship Id="rId19" Type="http://schemas.openxmlformats.org/officeDocument/2006/relationships/image" Target="../media/image57.png"/><Relationship Id="rId31" Type="http://schemas.openxmlformats.org/officeDocument/2006/relationships/image" Target="../media/image67.sv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svg"/><Relationship Id="rId22" Type="http://schemas.openxmlformats.org/officeDocument/2006/relationships/image" Target="../media/image58.png"/><Relationship Id="rId27" Type="http://schemas.openxmlformats.org/officeDocument/2006/relationships/image" Target="../media/image63.svg"/><Relationship Id="rId30" Type="http://schemas.openxmlformats.org/officeDocument/2006/relationships/image" Target="../media/image6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1.svg"/><Relationship Id="rId7" Type="http://schemas.openxmlformats.org/officeDocument/2006/relationships/image" Target="../media/image42.png"/><Relationship Id="rId12" Type="http://schemas.openxmlformats.org/officeDocument/2006/relationships/image" Target="../media/image7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svg"/><Relationship Id="rId11" Type="http://schemas.openxmlformats.org/officeDocument/2006/relationships/image" Target="../media/image6.png"/><Relationship Id="rId5" Type="http://schemas.openxmlformats.org/officeDocument/2006/relationships/image" Target="../media/image69.png"/><Relationship Id="rId10" Type="http://schemas.openxmlformats.org/officeDocument/2006/relationships/image" Target="../media/image57.png"/><Relationship Id="rId4" Type="http://schemas.openxmlformats.org/officeDocument/2006/relationships/image" Target="../media/image68.png"/><Relationship Id="rId9" Type="http://schemas.openxmlformats.org/officeDocument/2006/relationships/image" Target="../media/image7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0.svg"/><Relationship Id="rId7" Type="http://schemas.openxmlformats.org/officeDocument/2006/relationships/image" Target="../media/image5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5" Type="http://schemas.openxmlformats.org/officeDocument/2006/relationships/image" Target="../media/image43.png"/><Relationship Id="rId10" Type="http://schemas.openxmlformats.org/officeDocument/2006/relationships/image" Target="../media/image72.png"/><Relationship Id="rId4" Type="http://schemas.openxmlformats.org/officeDocument/2006/relationships/image" Target="../media/image42.pn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41.sv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7.svg"/><Relationship Id="rId5" Type="http://schemas.openxmlformats.org/officeDocument/2006/relationships/image" Target="../media/image70.svg"/><Relationship Id="rId10" Type="http://schemas.openxmlformats.org/officeDocument/2006/relationships/image" Target="../media/image6.png"/><Relationship Id="rId4" Type="http://schemas.openxmlformats.org/officeDocument/2006/relationships/image" Target="../media/image69.png"/><Relationship Id="rId9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18" Type="http://schemas.openxmlformats.org/officeDocument/2006/relationships/image" Target="../media/image57.png"/><Relationship Id="rId26" Type="http://schemas.openxmlformats.org/officeDocument/2006/relationships/image" Target="../media/image88.svg"/><Relationship Id="rId3" Type="http://schemas.openxmlformats.org/officeDocument/2006/relationships/image" Target="../media/image43.png"/><Relationship Id="rId21" Type="http://schemas.openxmlformats.org/officeDocument/2006/relationships/image" Target="../media/image83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17" Type="http://schemas.openxmlformats.org/officeDocument/2006/relationships/image" Target="../media/image82.svg"/><Relationship Id="rId25" Type="http://schemas.openxmlformats.org/officeDocument/2006/relationships/image" Target="../media/image87.png"/><Relationship Id="rId2" Type="http://schemas.openxmlformats.org/officeDocument/2006/relationships/image" Target="../media/image42.png"/><Relationship Id="rId16" Type="http://schemas.openxmlformats.org/officeDocument/2006/relationships/image" Target="../media/image81.png"/><Relationship Id="rId20" Type="http://schemas.openxmlformats.org/officeDocument/2006/relationships/image" Target="../media/image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11" Type="http://schemas.openxmlformats.org/officeDocument/2006/relationships/image" Target="../media/image77.png"/><Relationship Id="rId24" Type="http://schemas.openxmlformats.org/officeDocument/2006/relationships/image" Target="../media/image86.svg"/><Relationship Id="rId5" Type="http://schemas.openxmlformats.org/officeDocument/2006/relationships/image" Target="../media/image58.png"/><Relationship Id="rId15" Type="http://schemas.openxmlformats.org/officeDocument/2006/relationships/image" Target="../media/image1.png"/><Relationship Id="rId23" Type="http://schemas.openxmlformats.org/officeDocument/2006/relationships/image" Target="../media/image85.png"/><Relationship Id="rId10" Type="http://schemas.openxmlformats.org/officeDocument/2006/relationships/image" Target="../media/image76.svg"/><Relationship Id="rId19" Type="http://schemas.openxmlformats.org/officeDocument/2006/relationships/image" Target="../media/image6.png"/><Relationship Id="rId4" Type="http://schemas.openxmlformats.org/officeDocument/2006/relationships/image" Target="../media/image44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Relationship Id="rId22" Type="http://schemas.openxmlformats.org/officeDocument/2006/relationships/image" Target="../media/image8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94.png"/><Relationship Id="rId3" Type="http://schemas.openxmlformats.org/officeDocument/2006/relationships/image" Target="../media/image41.svg"/><Relationship Id="rId7" Type="http://schemas.openxmlformats.org/officeDocument/2006/relationships/image" Target="../media/image42.png"/><Relationship Id="rId12" Type="http://schemas.openxmlformats.org/officeDocument/2006/relationships/image" Target="../media/image93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png"/><Relationship Id="rId11" Type="http://schemas.openxmlformats.org/officeDocument/2006/relationships/image" Target="../media/image92.png"/><Relationship Id="rId5" Type="http://schemas.openxmlformats.org/officeDocument/2006/relationships/image" Target="../media/image90.svg"/><Relationship Id="rId15" Type="http://schemas.openxmlformats.org/officeDocument/2006/relationships/image" Target="../media/image96.png"/><Relationship Id="rId10" Type="http://schemas.openxmlformats.org/officeDocument/2006/relationships/image" Target="../media/image7.svg"/><Relationship Id="rId4" Type="http://schemas.openxmlformats.org/officeDocument/2006/relationships/image" Target="../media/image89.png"/><Relationship Id="rId9" Type="http://schemas.openxmlformats.org/officeDocument/2006/relationships/image" Target="../media/image6.png"/><Relationship Id="rId14" Type="http://schemas.openxmlformats.org/officeDocument/2006/relationships/image" Target="../media/image9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1.png"/><Relationship Id="rId4" Type="http://schemas.openxmlformats.org/officeDocument/2006/relationships/image" Target="../media/image9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7.png"/><Relationship Id="rId7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98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97.png"/><Relationship Id="rId7" Type="http://schemas.openxmlformats.org/officeDocument/2006/relationships/image" Target="../media/image10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4.png"/><Relationship Id="rId5" Type="http://schemas.openxmlformats.org/officeDocument/2006/relationships/image" Target="../media/image98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5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98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97.png"/><Relationship Id="rId7" Type="http://schemas.openxmlformats.org/officeDocument/2006/relationships/image" Target="../media/image10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7.png"/><Relationship Id="rId7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7.png"/><Relationship Id="rId7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7.png"/><Relationship Id="rId7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7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7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7.svg"/><Relationship Id="rId3" Type="http://schemas.openxmlformats.org/officeDocument/2006/relationships/image" Target="../media/image41.svg"/><Relationship Id="rId7" Type="http://schemas.openxmlformats.org/officeDocument/2006/relationships/image" Target="../media/image113.svg"/><Relationship Id="rId12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2.png"/><Relationship Id="rId11" Type="http://schemas.openxmlformats.org/officeDocument/2006/relationships/image" Target="../media/image57.png"/><Relationship Id="rId5" Type="http://schemas.openxmlformats.org/officeDocument/2006/relationships/image" Target="../media/image111.svg"/><Relationship Id="rId10" Type="http://schemas.openxmlformats.org/officeDocument/2006/relationships/image" Target="../media/image115.svg"/><Relationship Id="rId4" Type="http://schemas.openxmlformats.org/officeDocument/2006/relationships/image" Target="../media/image110.png"/><Relationship Id="rId9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355" y="-635"/>
            <a:ext cx="1858645" cy="217043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510" y="1370330"/>
            <a:ext cx="5158740" cy="2654935"/>
            <a:chOff x="6747510" y="1370330"/>
            <a:chExt cx="5158740" cy="265493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340" y="1370330"/>
              <a:ext cx="2629535" cy="369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510" y="1809750"/>
              <a:ext cx="5158740" cy="2216150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1165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920" y="6027420"/>
            <a:ext cx="2679700" cy="375920"/>
            <a:chOff x="8757920" y="6027420"/>
            <a:chExt cx="2679700" cy="375920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7790" y="6027420"/>
              <a:ext cx="1180465" cy="375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57920" y="6027420"/>
              <a:ext cx="1190625" cy="35369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20" y="3915410"/>
            <a:ext cx="7470140" cy="3683000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360"/>
            <a:ext cx="6616065" cy="564134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240" y="2177415"/>
            <a:ext cx="1047115" cy="1047750"/>
            <a:chOff x="396240" y="2177415"/>
            <a:chExt cx="1047115" cy="1047750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396240" y="2177415"/>
              <a:ext cx="1047115" cy="1047750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720725" y="2501900"/>
              <a:ext cx="397510" cy="397510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20" y="5509260"/>
            <a:ext cx="335915" cy="335915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620" y="2615565"/>
            <a:ext cx="3935730" cy="4307840"/>
            <a:chOff x="1277620" y="2615565"/>
            <a:chExt cx="3935730" cy="4307840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136900" y="2615565"/>
              <a:ext cx="762635" cy="1329690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395345" y="3034665"/>
              <a:ext cx="358775" cy="10287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549015" y="3181985"/>
              <a:ext cx="304165" cy="446405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602355" y="3408045"/>
              <a:ext cx="199390" cy="93980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445510" y="2946400"/>
              <a:ext cx="114300" cy="175260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606800" y="3291840"/>
              <a:ext cx="291465" cy="114935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330700" y="2822575"/>
              <a:ext cx="845820" cy="1231900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4642485" y="3194685"/>
              <a:ext cx="260350" cy="396240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134870" y="3569970"/>
              <a:ext cx="1713230" cy="2122170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782445" y="2731770"/>
              <a:ext cx="1021715" cy="95631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134870" y="3002915"/>
              <a:ext cx="769620" cy="898525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635250" y="3086735"/>
              <a:ext cx="168910" cy="8890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2847975" y="3226435"/>
              <a:ext cx="62230" cy="179705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253615" y="3220720"/>
              <a:ext cx="220980" cy="207645"/>
              <a:chOff x="2253615" y="3220720"/>
              <a:chExt cx="220980" cy="207645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253615" y="3220720"/>
                <a:ext cx="220980" cy="207645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284730" y="3239770"/>
                <a:ext cx="136525" cy="64135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574290" y="3705860"/>
              <a:ext cx="130810" cy="52070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753360" y="3369945"/>
              <a:ext cx="131445" cy="113665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620" y="3713480"/>
              <a:ext cx="3935730" cy="3209925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693035" y="3910330"/>
              <a:ext cx="1303655" cy="84201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3951605" y="4706620"/>
              <a:ext cx="180975" cy="68770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2919730" y="5164455"/>
              <a:ext cx="741045" cy="600075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581910" y="3262630"/>
              <a:ext cx="152400" cy="152400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314190" y="2766060"/>
              <a:ext cx="473710" cy="473710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007870" y="3778250"/>
              <a:ext cx="883285" cy="197485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4619625" y="3200400"/>
              <a:ext cx="266065" cy="372110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4697095" y="3370580"/>
              <a:ext cx="90170" cy="97790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633470" y="378269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4949825" y="390207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733675" y="3194050"/>
              <a:ext cx="45085" cy="59055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115" y="5818505"/>
            <a:ext cx="321310" cy="32131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625" y="4077335"/>
            <a:ext cx="5222240" cy="1102360"/>
            <a:chOff x="6778625" y="4077335"/>
            <a:chExt cx="5222240" cy="1102360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78625" y="4077335"/>
              <a:ext cx="1663700" cy="70485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42125" y="4223385"/>
              <a:ext cx="5158740" cy="956310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27522" b="23907"/>
          <a:stretch/>
        </p:blipFill>
        <p:spPr>
          <a:xfrm flipV="1">
            <a:off x="7546340" y="-635"/>
            <a:ext cx="4645660" cy="3296920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6585" y="5136515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1818"/>
          <a:stretch/>
        </p:blipFill>
        <p:spPr>
          <a:xfrm>
            <a:off x="45720" y="3369945"/>
            <a:ext cx="3592830" cy="344614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585" y="519430"/>
            <a:ext cx="2266950" cy="1224915"/>
            <a:chOff x="870585" y="519430"/>
            <a:chExt cx="2266950" cy="12249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825" y="913130"/>
              <a:ext cx="2252345" cy="831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585" y="519430"/>
              <a:ext cx="225234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050" y="1880870"/>
            <a:ext cx="5255260" cy="789305"/>
            <a:chOff x="6242050" y="1880870"/>
            <a:chExt cx="5255260" cy="78930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154545" y="2067560"/>
              <a:ext cx="4342765" cy="307975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050" y="1880870"/>
              <a:ext cx="883920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050" y="2679700"/>
            <a:ext cx="4702175" cy="789305"/>
            <a:chOff x="6242050" y="2679700"/>
            <a:chExt cx="4702175" cy="78930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154545" y="2869565"/>
              <a:ext cx="3789680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구성 및 활용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050" y="267970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050" y="3479165"/>
            <a:ext cx="4949190" cy="789305"/>
            <a:chOff x="6242050" y="3479165"/>
            <a:chExt cx="4949190" cy="7893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154545" y="3670935"/>
              <a:ext cx="4036695" cy="30797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핵심기능설계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050" y="3479165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050" y="4278630"/>
            <a:ext cx="3881755" cy="789305"/>
            <a:chOff x="6242050" y="4278630"/>
            <a:chExt cx="3881755" cy="789305"/>
          </a:xfrm>
        </p:grpSpPr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7185660" y="4431030"/>
              <a:ext cx="2938780" cy="41592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2000" b="1" dirty="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050" y="427863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42670" y="4289425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73130" y="1555115"/>
            <a:ext cx="233045" cy="233045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11933555" y="302895"/>
            <a:ext cx="343535" cy="34353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45" y="1043305"/>
            <a:ext cx="6160770" cy="4371340"/>
            <a:chOff x="296545" y="1043305"/>
            <a:chExt cx="6160770" cy="437134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6710" y="1043305"/>
              <a:ext cx="6111240" cy="3434080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709670" y="5176520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538345" y="4298315"/>
              <a:ext cx="106680" cy="106680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03325" y="2752090"/>
              <a:ext cx="320675" cy="32067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96545" y="1824355"/>
              <a:ext cx="320675" cy="3041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1-1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46742"/>
              </p:ext>
            </p:extLst>
          </p:nvPr>
        </p:nvGraphicFramePr>
        <p:xfrm>
          <a:off x="301789" y="2401104"/>
          <a:ext cx="11588421" cy="3787191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318117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548048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722256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80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1661" y="5923052"/>
            <a:ext cx="113480" cy="11348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302906" y="3280858"/>
            <a:ext cx="2802884" cy="370613"/>
            <a:chOff x="4525645" y="3492500"/>
            <a:chExt cx="2713355" cy="35877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645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645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575" y="3566795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2850" y="351917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전체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356621" y="3280858"/>
            <a:ext cx="2802884" cy="370613"/>
            <a:chOff x="7579360" y="3492500"/>
            <a:chExt cx="2713355" cy="35877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360" y="349250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360" y="349250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15" y="3519170"/>
              <a:ext cx="203073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326401" y="4039683"/>
            <a:ext cx="2802884" cy="3706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302906" y="4039683"/>
            <a:ext cx="370613" cy="370613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0216" y="4129606"/>
            <a:ext cx="224336" cy="19941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302906" y="4834068"/>
            <a:ext cx="2802884" cy="370613"/>
            <a:chOff x="4525645" y="5045710"/>
            <a:chExt cx="2713355" cy="35877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645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645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2850" y="5072380"/>
              <a:ext cx="1976120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356621" y="4834068"/>
            <a:ext cx="2802884" cy="370613"/>
            <a:chOff x="7579360" y="5045710"/>
            <a:chExt cx="2713355" cy="35877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360" y="5045710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360" y="504571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15" y="5072380"/>
              <a:ext cx="186626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38415" y="5153660"/>
              <a:ext cx="240665" cy="15049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356621" y="4033376"/>
            <a:ext cx="2802886" cy="568055"/>
            <a:chOff x="7579360" y="4251325"/>
            <a:chExt cx="2713355" cy="54991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360" y="4251325"/>
              <a:ext cx="271335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360" y="4251325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15" y="4277995"/>
              <a:ext cx="215900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50480" y="4316730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302905" y="5599878"/>
            <a:ext cx="4494585" cy="370613"/>
            <a:chOff x="4525645" y="5811520"/>
            <a:chExt cx="4351020" cy="35877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645" y="5811520"/>
              <a:ext cx="3749675" cy="3587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645" y="5811520"/>
              <a:ext cx="358775" cy="35877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2850" y="5837555"/>
              <a:ext cx="38538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606925" y="5897245"/>
              <a:ext cx="186690" cy="18288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5" name="_x278651016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9090" y="5013960"/>
            <a:ext cx="1692910" cy="1372870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055" y="4828540"/>
            <a:ext cx="2099945" cy="1557655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225" y="5062220"/>
            <a:ext cx="154305" cy="154305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37266" y="3361619"/>
            <a:ext cx="226960" cy="207937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05776" y="4922365"/>
            <a:ext cx="197442" cy="21056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4785506" y="4074379"/>
            <a:ext cx="2239422" cy="31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894895-F39E-4034-A63E-6691E7B68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65" y="2386964"/>
            <a:ext cx="6861155" cy="35806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7832532" y="2386964"/>
            <a:ext cx="3312353" cy="2327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500" b="1" dirty="0" err="1"/>
              <a:t>ㆍ단순</a:t>
            </a:r>
            <a:r>
              <a:rPr lang="ko-KR" altLang="en-US" sz="1500" b="1" dirty="0"/>
              <a:t> 카테고리에 의한 서비스</a:t>
            </a:r>
            <a:endParaRPr lang="en-US" altLang="ko-KR" sz="1500" b="1" dirty="0"/>
          </a:p>
          <a:p>
            <a:pPr>
              <a:lnSpc>
                <a:spcPct val="200000"/>
              </a:lnSpc>
            </a:pPr>
            <a:r>
              <a:rPr lang="ko-KR" altLang="en-US" sz="1500" b="1" dirty="0" err="1"/>
              <a:t>ㆍ사용자의</a:t>
            </a:r>
            <a:r>
              <a:rPr lang="ko-KR" altLang="en-US" sz="1500" b="1" dirty="0"/>
              <a:t> 주변 환경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날씨</a:t>
            </a:r>
            <a:r>
              <a:rPr lang="en-US" altLang="ko-KR" sz="1500" b="1" dirty="0"/>
              <a:t> </a:t>
            </a:r>
            <a:r>
              <a:rPr lang="ko-KR" altLang="en-US" sz="1500" b="1" dirty="0"/>
              <a:t>등</a:t>
            </a:r>
            <a:r>
              <a:rPr lang="en-US" altLang="ko-KR" sz="1500" b="1" dirty="0"/>
              <a:t>)</a:t>
            </a:r>
            <a:r>
              <a:rPr lang="ko-KR" altLang="en-US" sz="1500" b="1" dirty="0"/>
              <a:t>을</a:t>
            </a:r>
            <a:endParaRPr lang="en-US" altLang="ko-KR" sz="1500" b="1" dirty="0"/>
          </a:p>
          <a:p>
            <a:pPr>
              <a:lnSpc>
                <a:spcPct val="200000"/>
              </a:lnSpc>
            </a:pPr>
            <a:r>
              <a:rPr lang="en-US" altLang="ko-KR" sz="1500" b="1" dirty="0"/>
              <a:t>   </a:t>
            </a:r>
            <a:r>
              <a:rPr lang="ko-KR" altLang="en-US" sz="1500" b="1" dirty="0"/>
              <a:t>활용한 음식 추천이 이루어지지 </a:t>
            </a:r>
            <a:br>
              <a:rPr lang="en-US" altLang="ko-KR" sz="1500" b="1" dirty="0"/>
            </a:br>
            <a:r>
              <a:rPr lang="en-US" altLang="ko-KR" sz="1500" b="1" dirty="0"/>
              <a:t>   </a:t>
            </a:r>
            <a:r>
              <a:rPr lang="ko-KR" altLang="en-US" sz="1500" b="1" dirty="0"/>
              <a:t>않음</a:t>
            </a:r>
          </a:p>
          <a:p>
            <a:pPr>
              <a:lnSpc>
                <a:spcPct val="200000"/>
              </a:lnSpc>
            </a:pPr>
            <a:endParaRPr lang="ko-KR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69962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FD99DF44-0E61-429D-A93E-94E8E5351BF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27"/>
          <a:stretch/>
        </p:blipFill>
        <p:spPr>
          <a:xfrm>
            <a:off x="1113727" y="2174040"/>
            <a:ext cx="6104219" cy="417128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38ECBF1-9638-4AA9-A427-C866095CF0C4}"/>
              </a:ext>
            </a:extLst>
          </p:cNvPr>
          <p:cNvSpPr txBox="1"/>
          <p:nvPr/>
        </p:nvSpPr>
        <p:spPr>
          <a:xfrm>
            <a:off x="7832532" y="2386964"/>
            <a:ext cx="3312353" cy="1865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500" b="1" dirty="0" err="1"/>
              <a:t>ㆍ여러가지</a:t>
            </a:r>
            <a:r>
              <a:rPr lang="ko-KR" altLang="en-US" sz="1500" b="1" dirty="0"/>
              <a:t> 음식 나열로 인한 사용자</a:t>
            </a:r>
            <a:br>
              <a:rPr lang="en-US" altLang="ko-KR" sz="1500" b="1" dirty="0"/>
            </a:br>
            <a:r>
              <a:rPr lang="en-US" altLang="ko-KR" sz="1500" b="1" dirty="0"/>
              <a:t>   </a:t>
            </a:r>
            <a:r>
              <a:rPr lang="ko-KR" altLang="en-US" sz="1500" b="1" dirty="0"/>
              <a:t>피로도 상승</a:t>
            </a:r>
            <a:endParaRPr lang="en-US" altLang="ko-KR" sz="1500" b="1" dirty="0"/>
          </a:p>
          <a:p>
            <a:pPr>
              <a:lnSpc>
                <a:spcPct val="200000"/>
              </a:lnSpc>
            </a:pPr>
            <a:r>
              <a:rPr lang="ko-KR" altLang="en-US" sz="1500" b="1" dirty="0" err="1"/>
              <a:t>ㆍ획일화된</a:t>
            </a:r>
            <a:r>
              <a:rPr lang="ko-KR" altLang="en-US" sz="1500" b="1" dirty="0"/>
              <a:t> 음식 메뉴 추천</a:t>
            </a:r>
            <a:endParaRPr lang="en-US" altLang="ko-KR" sz="1500" b="1" dirty="0"/>
          </a:p>
          <a:p>
            <a:pPr>
              <a:lnSpc>
                <a:spcPct val="200000"/>
              </a:lnSpc>
            </a:pPr>
            <a:r>
              <a:rPr lang="en-US" altLang="ko-KR" sz="1500" b="1" dirty="0"/>
              <a:t>    ( </a:t>
            </a:r>
            <a:r>
              <a:rPr lang="ko-KR" altLang="en-US" sz="1500" b="1" dirty="0"/>
              <a:t>점심 메뉴 추천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저녁 메뉴 추천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28375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1-3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기획 의도 및 목표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41303"/>
              <a:ext cx="81768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매일 반복되는 음식 선택 과정에서 발생하는 고민과 결정 피로를 줄이는 서비스의 제공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32568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시간 정보를 통합한 상황 인지형 음식점 추천 기능 구현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7609" y="2905199"/>
              <a:ext cx="81492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 정보와 실시간 날씨 데이터를 활용하여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이용자의 상황에 적합한 음식 선택을 돕는다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29" y="5713511"/>
              <a:ext cx="801941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추천 과정에서 발생하는 이용 이력을 수집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분석하여 향후 개인화 추천 및 서비스 고도화에 활용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75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350" y="3164840"/>
            <a:ext cx="178435" cy="17843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715" y="5443220"/>
            <a:ext cx="186690" cy="207645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 descr="C:/Users/HIDDLE/AppData/Roaming/PolarisOffice/ETemp/24964_19278568/image1.png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34710"/>
            <a:ext cx="12192635" cy="923925"/>
          </a:xfrm>
          <a:prstGeom prst="rect">
            <a:avLst/>
          </a:prstGeom>
          <a:noFill/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422910" y="4989830"/>
            <a:ext cx="2036445" cy="488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GeoLocation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이용자의 좌표 획득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3216910" y="5048885"/>
            <a:ext cx="2122805" cy="48704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LCC DFS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좌표로 변환 후 기상청에 날씨 요청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1-4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개요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10" name="그래픽 9">
            <a:extLst>
              <a:ext uri="{FF2B5EF4-FFF2-40B4-BE49-F238E27FC236}">
                <a16:creationId xmlns:a16="http://schemas.microsoft.com/office/drawing/2014/main" id="{61C75D0F-C629-45FF-9672-63EAEFAD4AB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29890" y="2277110"/>
            <a:ext cx="2704465" cy="186944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F235FE4-2D8A-41A8-90F6-8A48CC24C89D}"/>
              </a:ext>
            </a:extLst>
          </p:cNvPr>
          <p:cNvSpPr txBox="1"/>
          <p:nvPr/>
        </p:nvSpPr>
        <p:spPr>
          <a:xfrm>
            <a:off x="504825" y="4354195"/>
            <a:ext cx="1774825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이용자 좌표</a:t>
            </a:r>
          </a:p>
        </p:txBody>
      </p:sp>
      <p:sp>
        <p:nvSpPr>
          <p:cNvPr id="130" name="TextBox 129"/>
          <p:cNvSpPr txBox="1">
            <a:spLocks/>
          </p:cNvSpPr>
          <p:nvPr/>
        </p:nvSpPr>
        <p:spPr>
          <a:xfrm>
            <a:off x="3442335" y="4293235"/>
            <a:ext cx="1718310" cy="7346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2.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초단기예보 </a:t>
            </a: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API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호출</a:t>
            </a: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3D6C4C69-A727-4DEE-81F3-A65E346BF6D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2095" y="2277110"/>
            <a:ext cx="2386330" cy="1929765"/>
          </a:xfrm>
          <a:prstGeom prst="rect">
            <a:avLst/>
          </a:prstGeom>
        </p:spPr>
      </p:pic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22217562-97B7-43FD-AB54-46F8751A38C1}"/>
              </a:ext>
            </a:extLst>
          </p:cNvPr>
          <p:cNvGrpSpPr/>
          <p:nvPr/>
        </p:nvGrpSpPr>
        <p:grpSpPr>
          <a:xfrm>
            <a:off x="9020810" y="2380615"/>
            <a:ext cx="3041015" cy="1804035"/>
            <a:chOff x="9020810" y="2380615"/>
            <a:chExt cx="3041015" cy="1804035"/>
          </a:xfrm>
        </p:grpSpPr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83D821A6-3480-474D-9107-653311551F12}"/>
                </a:ext>
              </a:extLst>
            </p:cNvPr>
            <p:cNvSpPr/>
            <p:nvPr/>
          </p:nvSpPr>
          <p:spPr>
            <a:xfrm>
              <a:off x="10109200" y="2380615"/>
              <a:ext cx="1130935" cy="1495425"/>
            </a:xfrm>
            <a:custGeom>
              <a:avLst/>
              <a:gdLst>
                <a:gd name="connsiteX0" fmla="*/ 1141224 w 1141537"/>
                <a:gd name="connsiteY0" fmla="*/ 471352 h 1571168"/>
                <a:gd name="connsiteX1" fmla="*/ 684287 w 1141537"/>
                <a:gd name="connsiteY1" fmla="*/ 1503977 h 1571168"/>
                <a:gd name="connsiteX2" fmla="*/ 507059 w 1141537"/>
                <a:gd name="connsiteY2" fmla="*/ 1554413 h 1571168"/>
                <a:gd name="connsiteX3" fmla="*/ 456623 w 1141537"/>
                <a:gd name="connsiteY3" fmla="*/ 1503977 h 1571168"/>
                <a:gd name="connsiteX4" fmla="*/ -314 w 1141537"/>
                <a:gd name="connsiteY4" fmla="*/ 471352 h 1571168"/>
                <a:gd name="connsiteX5" fmla="*/ 570455 w 1141537"/>
                <a:gd name="connsiteY5" fmla="*/ -269 h 1571168"/>
                <a:gd name="connsiteX6" fmla="*/ 1141224 w 1141537"/>
                <a:gd name="connsiteY6" fmla="*/ 471352 h 15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537" h="1571168">
                  <a:moveTo>
                    <a:pt x="1141224" y="471352"/>
                  </a:moveTo>
                  <a:cubicBezTo>
                    <a:pt x="1141224" y="657149"/>
                    <a:pt x="850802" y="1205082"/>
                    <a:pt x="684287" y="1503977"/>
                  </a:cubicBezTo>
                  <a:cubicBezTo>
                    <a:pt x="649275" y="1566842"/>
                    <a:pt x="569925" y="1589426"/>
                    <a:pt x="507059" y="1554413"/>
                  </a:cubicBezTo>
                  <a:cubicBezTo>
                    <a:pt x="485885" y="1542617"/>
                    <a:pt x="468419" y="1525152"/>
                    <a:pt x="456623" y="1503977"/>
                  </a:cubicBezTo>
                  <a:cubicBezTo>
                    <a:pt x="290109" y="1205082"/>
                    <a:pt x="-314" y="657149"/>
                    <a:pt x="-314" y="471352"/>
                  </a:cubicBezTo>
                  <a:cubicBezTo>
                    <a:pt x="-314" y="210883"/>
                    <a:pt x="255230" y="-269"/>
                    <a:pt x="570455" y="-269"/>
                  </a:cubicBezTo>
                  <a:cubicBezTo>
                    <a:pt x="885680" y="-269"/>
                    <a:pt x="1141224" y="210883"/>
                    <a:pt x="1141224" y="471352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B553194A-D5B0-4E21-A145-693D9F1F0DD4}"/>
                </a:ext>
              </a:extLst>
            </p:cNvPr>
            <p:cNvSpPr/>
            <p:nvPr/>
          </p:nvSpPr>
          <p:spPr>
            <a:xfrm>
              <a:off x="10369550" y="2528570"/>
              <a:ext cx="615950" cy="591820"/>
            </a:xfrm>
            <a:custGeom>
              <a:avLst/>
              <a:gdLst>
                <a:gd name="connsiteX0" fmla="*/ 621682 w 621682"/>
                <a:gd name="connsiteY0" fmla="*/ 310841 h 621682"/>
                <a:gd name="connsiteX1" fmla="*/ 310841 w 621682"/>
                <a:gd name="connsiteY1" fmla="*/ 621682 h 621682"/>
                <a:gd name="connsiteX2" fmla="*/ 0 w 621682"/>
                <a:gd name="connsiteY2" fmla="*/ 310841 h 621682"/>
                <a:gd name="connsiteX3" fmla="*/ 310841 w 621682"/>
                <a:gd name="connsiteY3" fmla="*/ 0 h 621682"/>
                <a:gd name="connsiteX4" fmla="*/ 621682 w 621682"/>
                <a:gd name="connsiteY4" fmla="*/ 310841 h 62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1682" h="621682">
                  <a:moveTo>
                    <a:pt x="621682" y="310841"/>
                  </a:moveTo>
                  <a:cubicBezTo>
                    <a:pt x="621682" y="482514"/>
                    <a:pt x="482514" y="621682"/>
                    <a:pt x="310841" y="621682"/>
                  </a:cubicBezTo>
                  <a:cubicBezTo>
                    <a:pt x="139168" y="621682"/>
                    <a:pt x="0" y="482514"/>
                    <a:pt x="0" y="310841"/>
                  </a:cubicBezTo>
                  <a:cubicBezTo>
                    <a:pt x="0" y="139168"/>
                    <a:pt x="139168" y="0"/>
                    <a:pt x="310841" y="0"/>
                  </a:cubicBezTo>
                  <a:cubicBezTo>
                    <a:pt x="482514" y="0"/>
                    <a:pt x="621682" y="139168"/>
                    <a:pt x="621682" y="310841"/>
                  </a:cubicBezTo>
                  <a:close/>
                </a:path>
              </a:pathLst>
            </a:custGeom>
            <a:solidFill>
              <a:srgbClr val="FFFF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D967D472-B7BF-4807-A4D1-DE6A86F572DB}"/>
                </a:ext>
              </a:extLst>
            </p:cNvPr>
            <p:cNvSpPr/>
            <p:nvPr/>
          </p:nvSpPr>
          <p:spPr>
            <a:xfrm>
              <a:off x="9208135" y="2738120"/>
              <a:ext cx="368935" cy="354330"/>
            </a:xfrm>
            <a:custGeom>
              <a:avLst/>
              <a:gdLst>
                <a:gd name="connsiteX0" fmla="*/ 372362 w 372361"/>
                <a:gd name="connsiteY0" fmla="*/ 186181 h 372361"/>
                <a:gd name="connsiteX1" fmla="*/ 186181 w 372361"/>
                <a:gd name="connsiteY1" fmla="*/ 372362 h 372361"/>
                <a:gd name="connsiteX2" fmla="*/ 0 w 372361"/>
                <a:gd name="connsiteY2" fmla="*/ 186181 h 372361"/>
                <a:gd name="connsiteX3" fmla="*/ 186181 w 372361"/>
                <a:gd name="connsiteY3" fmla="*/ 0 h 372361"/>
                <a:gd name="connsiteX4" fmla="*/ 372362 w 372361"/>
                <a:gd name="connsiteY4" fmla="*/ 186181 h 37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361" h="372361">
                  <a:moveTo>
                    <a:pt x="372362" y="186181"/>
                  </a:moveTo>
                  <a:cubicBezTo>
                    <a:pt x="372362" y="289006"/>
                    <a:pt x="289006" y="372362"/>
                    <a:pt x="186181" y="372362"/>
                  </a:cubicBezTo>
                  <a:cubicBezTo>
                    <a:pt x="83356" y="372362"/>
                    <a:pt x="0" y="289006"/>
                    <a:pt x="0" y="186181"/>
                  </a:cubicBezTo>
                  <a:cubicBezTo>
                    <a:pt x="0" y="83356"/>
                    <a:pt x="83356" y="0"/>
                    <a:pt x="186181" y="0"/>
                  </a:cubicBezTo>
                  <a:cubicBezTo>
                    <a:pt x="289006" y="0"/>
                    <a:pt x="372362" y="83356"/>
                    <a:pt x="372362" y="186181"/>
                  </a:cubicBezTo>
                  <a:close/>
                </a:path>
              </a:pathLst>
            </a:custGeom>
            <a:solidFill>
              <a:srgbClr val="FF6584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4B541338-A0BE-4F0A-9CDE-2D0400BF8729}"/>
                </a:ext>
              </a:extLst>
            </p:cNvPr>
            <p:cNvSpPr/>
            <p:nvPr/>
          </p:nvSpPr>
          <p:spPr>
            <a:xfrm rot="16753048">
              <a:off x="9148445" y="2950210"/>
              <a:ext cx="203835" cy="212090"/>
            </a:xfrm>
            <a:custGeom>
              <a:avLst/>
              <a:gdLst>
                <a:gd name="connsiteX0" fmla="*/ 213910 w 214223"/>
                <a:gd name="connsiteY0" fmla="*/ 106842 h 214223"/>
                <a:gd name="connsiteX1" fmla="*/ 106798 w 214223"/>
                <a:gd name="connsiteY1" fmla="*/ 213954 h 214223"/>
                <a:gd name="connsiteX2" fmla="*/ -313 w 214223"/>
                <a:gd name="connsiteY2" fmla="*/ 106842 h 214223"/>
                <a:gd name="connsiteX3" fmla="*/ 106798 w 214223"/>
                <a:gd name="connsiteY3" fmla="*/ -269 h 214223"/>
                <a:gd name="connsiteX4" fmla="*/ 213910 w 214223"/>
                <a:gd name="connsiteY4" fmla="*/ 106842 h 21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23" h="214223">
                  <a:moveTo>
                    <a:pt x="213910" y="106842"/>
                  </a:moveTo>
                  <a:cubicBezTo>
                    <a:pt x="213910" y="165998"/>
                    <a:pt x="165954" y="213954"/>
                    <a:pt x="106798" y="213954"/>
                  </a:cubicBezTo>
                  <a:cubicBezTo>
                    <a:pt x="47642" y="213954"/>
                    <a:pt x="-313" y="165998"/>
                    <a:pt x="-313" y="106842"/>
                  </a:cubicBezTo>
                  <a:cubicBezTo>
                    <a:pt x="-313" y="47686"/>
                    <a:pt x="47642" y="-269"/>
                    <a:pt x="106798" y="-269"/>
                  </a:cubicBezTo>
                  <a:cubicBezTo>
                    <a:pt x="165954" y="-269"/>
                    <a:pt x="213910" y="47686"/>
                    <a:pt x="213910" y="106842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2DC800BA-F5B4-47FF-9E79-A7768A88D1B9}"/>
                </a:ext>
              </a:extLst>
            </p:cNvPr>
            <p:cNvSpPr/>
            <p:nvPr/>
          </p:nvSpPr>
          <p:spPr>
            <a:xfrm>
              <a:off x="9271000" y="3451225"/>
              <a:ext cx="2461895" cy="734060"/>
            </a:xfrm>
            <a:custGeom>
              <a:avLst/>
              <a:gdLst>
                <a:gd name="connsiteX0" fmla="*/ 2485022 w 2485335"/>
                <a:gd name="connsiteY0" fmla="*/ 137697 h 771331"/>
                <a:gd name="connsiteX1" fmla="*/ 18766 w 2485335"/>
                <a:gd name="connsiteY1" fmla="*/ 760344 h 771331"/>
                <a:gd name="connsiteX2" fmla="*/ 8744 w 2485335"/>
                <a:gd name="connsiteY2" fmla="*/ 771062 h 771331"/>
                <a:gd name="connsiteX3" fmla="*/ -314 w 2485335"/>
                <a:gd name="connsiteY3" fmla="*/ 771062 h 771331"/>
                <a:gd name="connsiteX4" fmla="*/ 9172 w 2485335"/>
                <a:gd name="connsiteY4" fmla="*/ 760344 h 771331"/>
                <a:gd name="connsiteX5" fmla="*/ 2485022 w 2485335"/>
                <a:gd name="connsiteY5" fmla="*/ 137697 h 77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335" h="771331">
                  <a:moveTo>
                    <a:pt x="2485022" y="137697"/>
                  </a:moveTo>
                  <a:cubicBezTo>
                    <a:pt x="1641517" y="-178504"/>
                    <a:pt x="612740" y="129765"/>
                    <a:pt x="18766" y="760344"/>
                  </a:cubicBezTo>
                  <a:cubicBezTo>
                    <a:pt x="15389" y="763881"/>
                    <a:pt x="12013" y="767472"/>
                    <a:pt x="8744" y="771062"/>
                  </a:cubicBezTo>
                  <a:lnTo>
                    <a:pt x="-314" y="771062"/>
                  </a:lnTo>
                  <a:cubicBezTo>
                    <a:pt x="2795" y="767472"/>
                    <a:pt x="6010" y="763881"/>
                    <a:pt x="9172" y="760344"/>
                  </a:cubicBezTo>
                  <a:cubicBezTo>
                    <a:pt x="615473" y="81799"/>
                    <a:pt x="1630584" y="-188633"/>
                    <a:pt x="2485022" y="13769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BF966F7B-43B7-4852-9A0C-A73B107C35B8}"/>
                </a:ext>
              </a:extLst>
            </p:cNvPr>
            <p:cNvSpPr/>
            <p:nvPr/>
          </p:nvSpPr>
          <p:spPr>
            <a:xfrm>
              <a:off x="11732260" y="3582035"/>
              <a:ext cx="228600" cy="99695"/>
            </a:xfrm>
            <a:custGeom>
              <a:avLst/>
              <a:gdLst>
                <a:gd name="connsiteX0" fmla="*/ 230191 w 230504"/>
                <a:gd name="connsiteY0" fmla="*/ 104613 h 104882"/>
                <a:gd name="connsiteX1" fmla="*/ -314 w 230504"/>
                <a:gd name="connsiteY1" fmla="*/ -269 h 104882"/>
                <a:gd name="connsiteX2" fmla="*/ 230191 w 230504"/>
                <a:gd name="connsiteY2" fmla="*/ 104613 h 10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0504" h="104882">
                  <a:moveTo>
                    <a:pt x="230191" y="104613"/>
                  </a:moveTo>
                  <a:cubicBezTo>
                    <a:pt x="155632" y="64852"/>
                    <a:pt x="78645" y="29823"/>
                    <a:pt x="-314" y="-269"/>
                  </a:cubicBezTo>
                  <a:cubicBezTo>
                    <a:pt x="78854" y="29325"/>
                    <a:pt x="155873" y="64370"/>
                    <a:pt x="230191" y="104613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4867830D-9661-4296-BE1C-B9EF9F431C5B}"/>
                </a:ext>
              </a:extLst>
            </p:cNvPr>
            <p:cNvSpPr/>
            <p:nvPr/>
          </p:nvSpPr>
          <p:spPr>
            <a:xfrm>
              <a:off x="11387455" y="3157855"/>
              <a:ext cx="233045" cy="223520"/>
            </a:xfrm>
            <a:custGeom>
              <a:avLst/>
              <a:gdLst>
                <a:gd name="connsiteX0" fmla="*/ 234955 w 234955"/>
                <a:gd name="connsiteY0" fmla="*/ 117478 h 234955"/>
                <a:gd name="connsiteX1" fmla="*/ 117478 w 234955"/>
                <a:gd name="connsiteY1" fmla="*/ 234955 h 234955"/>
                <a:gd name="connsiteX2" fmla="*/ 0 w 234955"/>
                <a:gd name="connsiteY2" fmla="*/ 117478 h 234955"/>
                <a:gd name="connsiteX3" fmla="*/ 117478 w 234955"/>
                <a:gd name="connsiteY3" fmla="*/ 0 h 234955"/>
                <a:gd name="connsiteX4" fmla="*/ 234955 w 234955"/>
                <a:gd name="connsiteY4" fmla="*/ 117478 h 23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55" h="234955">
                  <a:moveTo>
                    <a:pt x="234955" y="117478"/>
                  </a:moveTo>
                  <a:cubicBezTo>
                    <a:pt x="234955" y="182359"/>
                    <a:pt x="182359" y="234955"/>
                    <a:pt x="117478" y="234955"/>
                  </a:cubicBezTo>
                  <a:cubicBezTo>
                    <a:pt x="52596" y="234955"/>
                    <a:pt x="0" y="182359"/>
                    <a:pt x="0" y="117478"/>
                  </a:cubicBezTo>
                  <a:cubicBezTo>
                    <a:pt x="0" y="52597"/>
                    <a:pt x="52596" y="0"/>
                    <a:pt x="117478" y="0"/>
                  </a:cubicBezTo>
                  <a:cubicBezTo>
                    <a:pt x="182359" y="0"/>
                    <a:pt x="234955" y="52597"/>
                    <a:pt x="234955" y="117478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1A737428-E473-4900-B719-ADF2ABB77838}"/>
                </a:ext>
              </a:extLst>
            </p:cNvPr>
            <p:cNvSpPr/>
            <p:nvPr/>
          </p:nvSpPr>
          <p:spPr>
            <a:xfrm>
              <a:off x="11513820" y="4065905"/>
              <a:ext cx="52705" cy="115570"/>
            </a:xfrm>
            <a:custGeom>
              <a:avLst/>
              <a:gdLst>
                <a:gd name="connsiteX0" fmla="*/ 2428 w 52956"/>
                <a:gd name="connsiteY0" fmla="*/ 66915 h 121528"/>
                <a:gd name="connsiteX1" fmla="*/ 42602 w 52956"/>
                <a:gd name="connsiteY1" fmla="*/ 121259 h 121528"/>
                <a:gd name="connsiteX2" fmla="*/ 49901 w 52956"/>
                <a:gd name="connsiteY2" fmla="*/ 54074 h 121528"/>
                <a:gd name="connsiteX3" fmla="*/ 9727 w 52956"/>
                <a:gd name="connsiteY3" fmla="*/ -269 h 121528"/>
                <a:gd name="connsiteX4" fmla="*/ 2428 w 52956"/>
                <a:gd name="connsiteY4" fmla="*/ 66915 h 121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56" h="121528">
                  <a:moveTo>
                    <a:pt x="2428" y="66915"/>
                  </a:moveTo>
                  <a:cubicBezTo>
                    <a:pt x="11507" y="100475"/>
                    <a:pt x="42602" y="121259"/>
                    <a:pt x="42602" y="121259"/>
                  </a:cubicBezTo>
                  <a:cubicBezTo>
                    <a:pt x="42602" y="121259"/>
                    <a:pt x="58980" y="87634"/>
                    <a:pt x="49901" y="54074"/>
                  </a:cubicBezTo>
                  <a:cubicBezTo>
                    <a:pt x="40822" y="20514"/>
                    <a:pt x="9727" y="-269"/>
                    <a:pt x="9727" y="-269"/>
                  </a:cubicBezTo>
                  <a:cubicBezTo>
                    <a:pt x="9727" y="-269"/>
                    <a:pt x="-6651" y="33361"/>
                    <a:pt x="2428" y="66915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8778CAE8-54D0-4828-BBD5-566501D655DD}"/>
                </a:ext>
              </a:extLst>
            </p:cNvPr>
            <p:cNvSpPr/>
            <p:nvPr/>
          </p:nvSpPr>
          <p:spPr>
            <a:xfrm>
              <a:off x="11468100" y="4098290"/>
              <a:ext cx="89535" cy="83820"/>
            </a:xfrm>
            <a:custGeom>
              <a:avLst/>
              <a:gdLst>
                <a:gd name="connsiteX0" fmla="*/ 61941 w 90208"/>
                <a:gd name="connsiteY0" fmla="*/ 26024 h 87818"/>
                <a:gd name="connsiteX1" fmla="*/ 89895 w 90208"/>
                <a:gd name="connsiteY1" fmla="*/ 87549 h 87818"/>
                <a:gd name="connsiteX2" fmla="*/ 27641 w 90208"/>
                <a:gd name="connsiteY2" fmla="*/ 61261 h 87818"/>
                <a:gd name="connsiteX3" fmla="*/ -314 w 90208"/>
                <a:gd name="connsiteY3" fmla="*/ -269 h 87818"/>
                <a:gd name="connsiteX4" fmla="*/ 61941 w 90208"/>
                <a:gd name="connsiteY4" fmla="*/ 26024 h 8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08" h="87818">
                  <a:moveTo>
                    <a:pt x="61941" y="26024"/>
                  </a:moveTo>
                  <a:cubicBezTo>
                    <a:pt x="86856" y="50275"/>
                    <a:pt x="89895" y="87549"/>
                    <a:pt x="89895" y="87549"/>
                  </a:cubicBezTo>
                  <a:cubicBezTo>
                    <a:pt x="89895" y="87549"/>
                    <a:pt x="52551" y="85512"/>
                    <a:pt x="27641" y="61261"/>
                  </a:cubicBezTo>
                  <a:cubicBezTo>
                    <a:pt x="2731" y="37010"/>
                    <a:pt x="-314" y="-269"/>
                    <a:pt x="-314" y="-269"/>
                  </a:cubicBezTo>
                  <a:cubicBezTo>
                    <a:pt x="-314" y="-269"/>
                    <a:pt x="37030" y="1773"/>
                    <a:pt x="61941" y="26024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874BB850-4FF7-41FA-B427-DEFBC07035A3}"/>
                </a:ext>
              </a:extLst>
            </p:cNvPr>
            <p:cNvSpPr/>
            <p:nvPr/>
          </p:nvSpPr>
          <p:spPr>
            <a:xfrm>
              <a:off x="9036050" y="3685540"/>
              <a:ext cx="2540" cy="52705"/>
            </a:xfrm>
            <a:custGeom>
              <a:avLst/>
              <a:gdLst>
                <a:gd name="connsiteX0" fmla="*/ 2259 w 2572"/>
                <a:gd name="connsiteY0" fmla="*/ 267 h 55094"/>
                <a:gd name="connsiteX1" fmla="*/ 2259 w 2572"/>
                <a:gd name="connsiteY1" fmla="*/ 52038 h 55094"/>
                <a:gd name="connsiteX2" fmla="*/ -314 w 2572"/>
                <a:gd name="connsiteY2" fmla="*/ 54825 h 55094"/>
                <a:gd name="connsiteX3" fmla="*/ -314 w 2572"/>
                <a:gd name="connsiteY3" fmla="*/ -269 h 55094"/>
                <a:gd name="connsiteX4" fmla="*/ 2259 w 2572"/>
                <a:gd name="connsiteY4" fmla="*/ 267 h 5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2" h="55094">
                  <a:moveTo>
                    <a:pt x="2259" y="267"/>
                  </a:moveTo>
                  <a:lnTo>
                    <a:pt x="2259" y="52038"/>
                  </a:lnTo>
                  <a:lnTo>
                    <a:pt x="-314" y="54825"/>
                  </a:lnTo>
                  <a:lnTo>
                    <a:pt x="-314" y="-269"/>
                  </a:lnTo>
                  <a:cubicBezTo>
                    <a:pt x="544" y="-108"/>
                    <a:pt x="1401" y="106"/>
                    <a:pt x="2259" y="26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FFC0418B-96D6-4794-9ABC-3AD56FA8FA22}"/>
                </a:ext>
              </a:extLst>
            </p:cNvPr>
            <p:cNvSpPr/>
            <p:nvPr/>
          </p:nvSpPr>
          <p:spPr>
            <a:xfrm>
              <a:off x="9036050" y="3674745"/>
              <a:ext cx="200660" cy="503555"/>
            </a:xfrm>
            <a:custGeom>
              <a:avLst/>
              <a:gdLst>
                <a:gd name="connsiteX0" fmla="*/ 167219 w 202436"/>
                <a:gd name="connsiteY0" fmla="*/ 524945 h 528912"/>
                <a:gd name="connsiteX1" fmla="*/ 164861 w 202436"/>
                <a:gd name="connsiteY1" fmla="*/ 528643 h 528912"/>
                <a:gd name="connsiteX2" fmla="*/ -314 w 202436"/>
                <a:gd name="connsiteY2" fmla="*/ 528643 h 528912"/>
                <a:gd name="connsiteX3" fmla="*/ -314 w 202436"/>
                <a:gd name="connsiteY3" fmla="*/ 13826 h 528912"/>
                <a:gd name="connsiteX4" fmla="*/ 2259 w 202436"/>
                <a:gd name="connsiteY4" fmla="*/ 11253 h 528912"/>
                <a:gd name="connsiteX5" fmla="*/ 24179 w 202436"/>
                <a:gd name="connsiteY5" fmla="*/ 36174 h 528912"/>
                <a:gd name="connsiteX6" fmla="*/ 24179 w 202436"/>
                <a:gd name="connsiteY6" fmla="*/ -269 h 528912"/>
                <a:gd name="connsiteX7" fmla="*/ 93850 w 202436"/>
                <a:gd name="connsiteY7" fmla="*/ -269 h 528912"/>
                <a:gd name="connsiteX8" fmla="*/ 93850 w 202436"/>
                <a:gd name="connsiteY8" fmla="*/ 115385 h 528912"/>
                <a:gd name="connsiteX9" fmla="*/ 164218 w 202436"/>
                <a:gd name="connsiteY9" fmla="*/ 195293 h 528912"/>
                <a:gd name="connsiteX10" fmla="*/ 164861 w 202436"/>
                <a:gd name="connsiteY10" fmla="*/ 196043 h 528912"/>
                <a:gd name="connsiteX11" fmla="*/ 167326 w 202436"/>
                <a:gd name="connsiteY11" fmla="*/ 204082 h 528912"/>
                <a:gd name="connsiteX12" fmla="*/ 167380 w 202436"/>
                <a:gd name="connsiteY12" fmla="*/ 204189 h 528912"/>
                <a:gd name="connsiteX13" fmla="*/ 193319 w 202436"/>
                <a:gd name="connsiteY13" fmla="*/ 307035 h 528912"/>
                <a:gd name="connsiteX14" fmla="*/ 167219 w 202436"/>
                <a:gd name="connsiteY14" fmla="*/ 524945 h 52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2436" h="528912">
                  <a:moveTo>
                    <a:pt x="167219" y="524945"/>
                  </a:moveTo>
                  <a:cubicBezTo>
                    <a:pt x="166469" y="526178"/>
                    <a:pt x="165665" y="527410"/>
                    <a:pt x="164861" y="528643"/>
                  </a:cubicBezTo>
                  <a:lnTo>
                    <a:pt x="-314" y="528643"/>
                  </a:lnTo>
                  <a:lnTo>
                    <a:pt x="-314" y="13826"/>
                  </a:lnTo>
                  <a:lnTo>
                    <a:pt x="2259" y="11253"/>
                  </a:lnTo>
                  <a:lnTo>
                    <a:pt x="24179" y="36174"/>
                  </a:lnTo>
                  <a:lnTo>
                    <a:pt x="24179" y="-269"/>
                  </a:lnTo>
                  <a:lnTo>
                    <a:pt x="93850" y="-269"/>
                  </a:lnTo>
                  <a:lnTo>
                    <a:pt x="93850" y="115385"/>
                  </a:lnTo>
                  <a:lnTo>
                    <a:pt x="164218" y="195293"/>
                  </a:lnTo>
                  <a:lnTo>
                    <a:pt x="164861" y="196043"/>
                  </a:lnTo>
                  <a:cubicBezTo>
                    <a:pt x="165719" y="198723"/>
                    <a:pt x="166522" y="201402"/>
                    <a:pt x="167326" y="204082"/>
                  </a:cubicBezTo>
                  <a:cubicBezTo>
                    <a:pt x="167332" y="204120"/>
                    <a:pt x="167348" y="204157"/>
                    <a:pt x="167380" y="204189"/>
                  </a:cubicBezTo>
                  <a:cubicBezTo>
                    <a:pt x="177932" y="237958"/>
                    <a:pt x="186593" y="272296"/>
                    <a:pt x="193319" y="307035"/>
                  </a:cubicBezTo>
                  <a:cubicBezTo>
                    <a:pt x="208647" y="388979"/>
                    <a:pt x="206342" y="464117"/>
                    <a:pt x="167219" y="52494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90820960-6D3D-47FE-93D8-F4E931844C7F}"/>
                </a:ext>
              </a:extLst>
            </p:cNvPr>
            <p:cNvSpPr/>
            <p:nvPr/>
          </p:nvSpPr>
          <p:spPr>
            <a:xfrm>
              <a:off x="9050020" y="39566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3D9252F3-137F-4D28-83DD-D9B905AD0232}"/>
                </a:ext>
              </a:extLst>
            </p:cNvPr>
            <p:cNvSpPr/>
            <p:nvPr/>
          </p:nvSpPr>
          <p:spPr>
            <a:xfrm>
              <a:off x="9050020" y="40201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0DB7FC09-2E22-47DC-974A-CF50A37F9D1E}"/>
                </a:ext>
              </a:extLst>
            </p:cNvPr>
            <p:cNvSpPr/>
            <p:nvPr/>
          </p:nvSpPr>
          <p:spPr>
            <a:xfrm>
              <a:off x="10424795" y="3640455"/>
              <a:ext cx="732155" cy="334010"/>
            </a:xfrm>
            <a:custGeom>
              <a:avLst/>
              <a:gdLst>
                <a:gd name="connsiteX0" fmla="*/ 21858 w 739094"/>
                <a:gd name="connsiteY0" fmla="*/ 261661 h 350621"/>
                <a:gd name="connsiteX1" fmla="*/ -314 w 739094"/>
                <a:gd name="connsiteY1" fmla="*/ 224708 h 350621"/>
                <a:gd name="connsiteX2" fmla="*/ 206632 w 739094"/>
                <a:gd name="connsiteY2" fmla="*/ 47325 h 350621"/>
                <a:gd name="connsiteX3" fmla="*/ 738781 w 739094"/>
                <a:gd name="connsiteY3" fmla="*/ 47325 h 350621"/>
                <a:gd name="connsiteX4" fmla="*/ 738781 w 739094"/>
                <a:gd name="connsiteY4" fmla="*/ 99059 h 350621"/>
                <a:gd name="connsiteX5" fmla="*/ 546617 w 739094"/>
                <a:gd name="connsiteY5" fmla="*/ 306009 h 350621"/>
                <a:gd name="connsiteX6" fmla="*/ 324885 w 739094"/>
                <a:gd name="connsiteY6" fmla="*/ 350352 h 350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094" h="350621">
                  <a:moveTo>
                    <a:pt x="21858" y="261661"/>
                  </a:moveTo>
                  <a:lnTo>
                    <a:pt x="-314" y="224708"/>
                  </a:lnTo>
                  <a:lnTo>
                    <a:pt x="206632" y="47325"/>
                  </a:lnTo>
                  <a:cubicBezTo>
                    <a:pt x="359624" y="-26317"/>
                    <a:pt x="544044" y="-5068"/>
                    <a:pt x="738781" y="47325"/>
                  </a:cubicBezTo>
                  <a:lnTo>
                    <a:pt x="738781" y="99059"/>
                  </a:lnTo>
                  <a:lnTo>
                    <a:pt x="546617" y="306009"/>
                  </a:lnTo>
                  <a:lnTo>
                    <a:pt x="324885" y="35035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1F35891B-A0AC-45EB-AE5D-4B73BD92656A}"/>
                </a:ext>
              </a:extLst>
            </p:cNvPr>
            <p:cNvSpPr/>
            <p:nvPr/>
          </p:nvSpPr>
          <p:spPr>
            <a:xfrm>
              <a:off x="10915650" y="3674745"/>
              <a:ext cx="402590" cy="503555"/>
            </a:xfrm>
            <a:custGeom>
              <a:avLst/>
              <a:gdLst>
                <a:gd name="connsiteX0" fmla="*/ 335191 w 406499"/>
                <a:gd name="connsiteY0" fmla="*/ 115369 h 528906"/>
                <a:gd name="connsiteX1" fmla="*/ 335191 w 406499"/>
                <a:gd name="connsiteY1" fmla="*/ -269 h 528906"/>
                <a:gd name="connsiteX2" fmla="*/ 265520 w 406499"/>
                <a:gd name="connsiteY2" fmla="*/ -269 h 528906"/>
                <a:gd name="connsiteX3" fmla="*/ 265520 w 406499"/>
                <a:gd name="connsiteY3" fmla="*/ 36196 h 528906"/>
                <a:gd name="connsiteX4" fmla="*/ 243590 w 406499"/>
                <a:gd name="connsiteY4" fmla="*/ 11275 h 528906"/>
                <a:gd name="connsiteX5" fmla="*/ 66206 w 406499"/>
                <a:gd name="connsiteY5" fmla="*/ 188658 h 528906"/>
                <a:gd name="connsiteX6" fmla="*/ 36639 w 406499"/>
                <a:gd name="connsiteY6" fmla="*/ 218220 h 528906"/>
                <a:gd name="connsiteX7" fmla="*/ -314 w 406499"/>
                <a:gd name="connsiteY7" fmla="*/ 366041 h 528906"/>
                <a:gd name="connsiteX8" fmla="*/ 66206 w 406499"/>
                <a:gd name="connsiteY8" fmla="*/ 528637 h 528906"/>
                <a:gd name="connsiteX9" fmla="*/ 406186 w 406499"/>
                <a:gd name="connsiteY9" fmla="*/ 528637 h 528906"/>
                <a:gd name="connsiteX10" fmla="*/ 406186 w 406499"/>
                <a:gd name="connsiteY10" fmla="*/ 196048 h 52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6499" h="528906">
                  <a:moveTo>
                    <a:pt x="335191" y="115369"/>
                  </a:moveTo>
                  <a:cubicBezTo>
                    <a:pt x="371940" y="74493"/>
                    <a:pt x="377048" y="35622"/>
                    <a:pt x="335191" y="-269"/>
                  </a:cubicBezTo>
                  <a:lnTo>
                    <a:pt x="265520" y="-269"/>
                  </a:lnTo>
                  <a:lnTo>
                    <a:pt x="265520" y="36196"/>
                  </a:lnTo>
                  <a:lnTo>
                    <a:pt x="243590" y="11275"/>
                  </a:lnTo>
                  <a:lnTo>
                    <a:pt x="66206" y="188658"/>
                  </a:lnTo>
                  <a:lnTo>
                    <a:pt x="36639" y="218220"/>
                  </a:lnTo>
                  <a:lnTo>
                    <a:pt x="-314" y="366041"/>
                  </a:lnTo>
                  <a:lnTo>
                    <a:pt x="66206" y="528637"/>
                  </a:lnTo>
                  <a:lnTo>
                    <a:pt x="406186" y="528637"/>
                  </a:lnTo>
                  <a:lnTo>
                    <a:pt x="406186" y="196048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074B7363-CD4E-417E-93E1-466AB181790F}"/>
                </a:ext>
              </a:extLst>
            </p:cNvPr>
            <p:cNvSpPr/>
            <p:nvPr/>
          </p:nvSpPr>
          <p:spPr>
            <a:xfrm>
              <a:off x="10386695" y="3855085"/>
              <a:ext cx="594995" cy="323850"/>
            </a:xfrm>
            <a:custGeom>
              <a:avLst/>
              <a:gdLst>
                <a:gd name="connsiteX0" fmla="*/ 38514 w 600538"/>
                <a:gd name="connsiteY0" fmla="*/ -269 h 339979"/>
                <a:gd name="connsiteX1" fmla="*/ 600225 w 600538"/>
                <a:gd name="connsiteY1" fmla="*/ -269 h 339979"/>
                <a:gd name="connsiteX2" fmla="*/ 600225 w 600538"/>
                <a:gd name="connsiteY2" fmla="*/ 339710 h 339979"/>
                <a:gd name="connsiteX3" fmla="*/ 38514 w 600538"/>
                <a:gd name="connsiteY3" fmla="*/ 339710 h 339979"/>
                <a:gd name="connsiteX4" fmla="*/ 38514 w 600538"/>
                <a:gd name="connsiteY4" fmla="*/ -269 h 339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8" h="339979">
                  <a:moveTo>
                    <a:pt x="38514" y="-269"/>
                  </a:moveTo>
                  <a:lnTo>
                    <a:pt x="600225" y="-269"/>
                  </a:lnTo>
                  <a:lnTo>
                    <a:pt x="600225" y="339710"/>
                  </a:lnTo>
                  <a:lnTo>
                    <a:pt x="38514" y="339710"/>
                  </a:lnTo>
                  <a:cubicBezTo>
                    <a:pt x="-29443" y="266191"/>
                    <a:pt x="5859" y="132181"/>
                    <a:pt x="38514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D48781A4-1707-4B9A-81C1-B399A1E45A81}"/>
                </a:ext>
              </a:extLst>
            </p:cNvPr>
            <p:cNvSpPr/>
            <p:nvPr/>
          </p:nvSpPr>
          <p:spPr>
            <a:xfrm>
              <a:off x="10787380" y="3956685"/>
              <a:ext cx="116840" cy="98425"/>
            </a:xfrm>
            <a:custGeom>
              <a:avLst/>
              <a:gdLst>
                <a:gd name="connsiteX0" fmla="*/ 0 w 118254"/>
                <a:gd name="connsiteY0" fmla="*/ 0 h 103473"/>
                <a:gd name="connsiteX1" fmla="*/ 118255 w 118254"/>
                <a:gd name="connsiteY1" fmla="*/ 0 h 103473"/>
                <a:gd name="connsiteX2" fmla="*/ 118255 w 118254"/>
                <a:gd name="connsiteY2" fmla="*/ 103473 h 103473"/>
                <a:gd name="connsiteX3" fmla="*/ 0 w 118254"/>
                <a:gd name="connsiteY3" fmla="*/ 103473 h 10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254" h="103473">
                  <a:moveTo>
                    <a:pt x="0" y="0"/>
                  </a:moveTo>
                  <a:lnTo>
                    <a:pt x="118255" y="0"/>
                  </a:lnTo>
                  <a:lnTo>
                    <a:pt x="118255" y="103473"/>
                  </a:lnTo>
                  <a:lnTo>
                    <a:pt x="0" y="10347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8F829C31-54F3-453C-B247-126784822F19}"/>
                </a:ext>
              </a:extLst>
            </p:cNvPr>
            <p:cNvSpPr/>
            <p:nvPr/>
          </p:nvSpPr>
          <p:spPr>
            <a:xfrm>
              <a:off x="10637520" y="3953510"/>
              <a:ext cx="102235" cy="225425"/>
            </a:xfrm>
            <a:custGeom>
              <a:avLst/>
              <a:gdLst>
                <a:gd name="connsiteX0" fmla="*/ 0 w 103473"/>
                <a:gd name="connsiteY0" fmla="*/ 0 h 236509"/>
                <a:gd name="connsiteX1" fmla="*/ 103473 w 103473"/>
                <a:gd name="connsiteY1" fmla="*/ 0 h 236509"/>
                <a:gd name="connsiteX2" fmla="*/ 103473 w 103473"/>
                <a:gd name="connsiteY2" fmla="*/ 236509 h 236509"/>
                <a:gd name="connsiteX3" fmla="*/ 0 w 103473"/>
                <a:gd name="connsiteY3" fmla="*/ 236509 h 23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6509">
                  <a:moveTo>
                    <a:pt x="0" y="0"/>
                  </a:moveTo>
                  <a:lnTo>
                    <a:pt x="103473" y="0"/>
                  </a:lnTo>
                  <a:lnTo>
                    <a:pt x="103473" y="236509"/>
                  </a:lnTo>
                  <a:lnTo>
                    <a:pt x="0" y="236509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0AF6FF4D-2589-4CFF-974A-EEE8AF5AB5D0}"/>
                </a:ext>
              </a:extLst>
            </p:cNvPr>
            <p:cNvSpPr/>
            <p:nvPr/>
          </p:nvSpPr>
          <p:spPr>
            <a:xfrm>
              <a:off x="10476230" y="3953510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45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45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2464DE78-113D-4F18-BBA1-77DC6A17996B}"/>
                </a:ext>
              </a:extLst>
            </p:cNvPr>
            <p:cNvSpPr/>
            <p:nvPr/>
          </p:nvSpPr>
          <p:spPr>
            <a:xfrm>
              <a:off x="10476230" y="4016375"/>
              <a:ext cx="43815" cy="34925"/>
            </a:xfrm>
            <a:custGeom>
              <a:avLst/>
              <a:gdLst>
                <a:gd name="connsiteX0" fmla="*/ 40645 w 44343"/>
                <a:gd name="connsiteY0" fmla="*/ 0 h 36958"/>
                <a:gd name="connsiteX1" fmla="*/ 0 w 44343"/>
                <a:gd name="connsiteY1" fmla="*/ 0 h 36958"/>
                <a:gd name="connsiteX2" fmla="*/ 0 w 44343"/>
                <a:gd name="connsiteY2" fmla="*/ 36958 h 36958"/>
                <a:gd name="connsiteX3" fmla="*/ 44343 w 44343"/>
                <a:gd name="connsiteY3" fmla="*/ 36958 h 36958"/>
                <a:gd name="connsiteX4" fmla="*/ 44343 w 44343"/>
                <a:gd name="connsiteY4" fmla="*/ 0 h 36958"/>
                <a:gd name="connsiteX5" fmla="*/ 40645 w 44343"/>
                <a:gd name="connsiteY5" fmla="*/ 0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8">
                  <a:moveTo>
                    <a:pt x="40645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45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93EBF5BF-DE0C-4BA3-8458-093A039CB222}"/>
                </a:ext>
              </a:extLst>
            </p:cNvPr>
            <p:cNvSpPr/>
            <p:nvPr/>
          </p:nvSpPr>
          <p:spPr>
            <a:xfrm>
              <a:off x="10549255" y="395351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2A7D5036-4769-4329-8D7A-81664F343096}"/>
                </a:ext>
              </a:extLst>
            </p:cNvPr>
            <p:cNvSpPr/>
            <p:nvPr/>
          </p:nvSpPr>
          <p:spPr>
            <a:xfrm>
              <a:off x="10549255" y="401637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5870539E-6954-4C26-B427-3ADB4499617F}"/>
                </a:ext>
              </a:extLst>
            </p:cNvPr>
            <p:cNvSpPr/>
            <p:nvPr/>
          </p:nvSpPr>
          <p:spPr>
            <a:xfrm>
              <a:off x="11094720" y="3956685"/>
              <a:ext cx="43815" cy="34925"/>
            </a:xfrm>
            <a:custGeom>
              <a:avLst/>
              <a:gdLst>
                <a:gd name="connsiteX0" fmla="*/ 44349 w 44348"/>
                <a:gd name="connsiteY0" fmla="*/ 36958 h 36957"/>
                <a:gd name="connsiteX1" fmla="*/ 44349 w 44348"/>
                <a:gd name="connsiteY1" fmla="*/ 0 h 36957"/>
                <a:gd name="connsiteX2" fmla="*/ 0 w 44348"/>
                <a:gd name="connsiteY2" fmla="*/ 0 h 36957"/>
                <a:gd name="connsiteX3" fmla="*/ 0 w 44348"/>
                <a:gd name="connsiteY3" fmla="*/ 36958 h 36957"/>
                <a:gd name="connsiteX4" fmla="*/ 40651 w 44348"/>
                <a:gd name="connsiteY4" fmla="*/ 36958 h 36957"/>
                <a:gd name="connsiteX5" fmla="*/ 44349 w 44348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7">
                  <a:moveTo>
                    <a:pt x="44349" y="36958"/>
                  </a:moveTo>
                  <a:lnTo>
                    <a:pt x="44349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9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52253FCD-9E1C-4A78-A7E9-E17DE734AA1A}"/>
                </a:ext>
              </a:extLst>
            </p:cNvPr>
            <p:cNvSpPr/>
            <p:nvPr/>
          </p:nvSpPr>
          <p:spPr>
            <a:xfrm>
              <a:off x="11094720" y="4020185"/>
              <a:ext cx="43815" cy="34925"/>
            </a:xfrm>
            <a:custGeom>
              <a:avLst/>
              <a:gdLst>
                <a:gd name="connsiteX0" fmla="*/ 40651 w 44348"/>
                <a:gd name="connsiteY0" fmla="*/ 0 h 36952"/>
                <a:gd name="connsiteX1" fmla="*/ 0 w 44348"/>
                <a:gd name="connsiteY1" fmla="*/ 0 h 36952"/>
                <a:gd name="connsiteX2" fmla="*/ 0 w 44348"/>
                <a:gd name="connsiteY2" fmla="*/ 36953 h 36952"/>
                <a:gd name="connsiteX3" fmla="*/ 44349 w 44348"/>
                <a:gd name="connsiteY3" fmla="*/ 36953 h 36952"/>
                <a:gd name="connsiteX4" fmla="*/ 44349 w 44348"/>
                <a:gd name="connsiteY4" fmla="*/ 0 h 36952"/>
                <a:gd name="connsiteX5" fmla="*/ 40651 w 44348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9" y="36953"/>
                  </a:lnTo>
                  <a:lnTo>
                    <a:pt x="44349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3183AC10-BA41-4E46-B773-927D585FCDAA}"/>
                </a:ext>
              </a:extLst>
            </p:cNvPr>
            <p:cNvSpPr/>
            <p:nvPr/>
          </p:nvSpPr>
          <p:spPr>
            <a:xfrm>
              <a:off x="11167745" y="39566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0C2BA7F3-3F2A-4C83-9F87-C41D96CBEB7F}"/>
                </a:ext>
              </a:extLst>
            </p:cNvPr>
            <p:cNvSpPr/>
            <p:nvPr/>
          </p:nvSpPr>
          <p:spPr>
            <a:xfrm>
              <a:off x="11167745" y="40201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3FA45A4F-A89A-40C8-A01A-5E5823D9083C}"/>
                </a:ext>
              </a:extLst>
            </p:cNvPr>
            <p:cNvSpPr/>
            <p:nvPr/>
          </p:nvSpPr>
          <p:spPr>
            <a:xfrm>
              <a:off x="9419590" y="3094990"/>
              <a:ext cx="724535" cy="372745"/>
            </a:xfrm>
            <a:custGeom>
              <a:avLst/>
              <a:gdLst>
                <a:gd name="connsiteX0" fmla="*/ 36953 w 731698"/>
                <a:gd name="connsiteY0" fmla="*/ 214341 h 391724"/>
                <a:gd name="connsiteX1" fmla="*/ 0 w 731698"/>
                <a:gd name="connsiteY1" fmla="*/ 184774 h 391724"/>
                <a:gd name="connsiteX2" fmla="*/ 206945 w 731698"/>
                <a:gd name="connsiteY2" fmla="*/ 0 h 391724"/>
                <a:gd name="connsiteX3" fmla="*/ 731699 w 731698"/>
                <a:gd name="connsiteY3" fmla="*/ 0 h 391724"/>
                <a:gd name="connsiteX4" fmla="*/ 731699 w 731698"/>
                <a:gd name="connsiteY4" fmla="*/ 162602 h 391724"/>
                <a:gd name="connsiteX5" fmla="*/ 391719 w 731698"/>
                <a:gd name="connsiteY5" fmla="*/ 391724 h 391724"/>
                <a:gd name="connsiteX6" fmla="*/ 36953 w 731698"/>
                <a:gd name="connsiteY6" fmla="*/ 214341 h 3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698" h="391724">
                  <a:moveTo>
                    <a:pt x="36953" y="214341"/>
                  </a:moveTo>
                  <a:lnTo>
                    <a:pt x="0" y="184774"/>
                  </a:lnTo>
                  <a:lnTo>
                    <a:pt x="206945" y="0"/>
                  </a:lnTo>
                  <a:lnTo>
                    <a:pt x="731699" y="0"/>
                  </a:lnTo>
                  <a:lnTo>
                    <a:pt x="731699" y="162602"/>
                  </a:lnTo>
                  <a:lnTo>
                    <a:pt x="391719" y="391724"/>
                  </a:lnTo>
                  <a:lnTo>
                    <a:pt x="36953" y="21434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B4449605-0840-4852-91EE-3C150ABA5E96}"/>
                </a:ext>
              </a:extLst>
            </p:cNvPr>
            <p:cNvSpPr/>
            <p:nvPr/>
          </p:nvSpPr>
          <p:spPr>
            <a:xfrm>
              <a:off x="9808210" y="3094990"/>
              <a:ext cx="570865" cy="1083310"/>
            </a:xfrm>
            <a:custGeom>
              <a:avLst/>
              <a:gdLst>
                <a:gd name="connsiteX0" fmla="*/ 435009 w 576167"/>
                <a:gd name="connsiteY0" fmla="*/ 103380 h 1138203"/>
                <a:gd name="connsiteX1" fmla="*/ 435009 w 576167"/>
                <a:gd name="connsiteY1" fmla="*/ 3423 h 1138203"/>
                <a:gd name="connsiteX2" fmla="*/ 365337 w 576167"/>
                <a:gd name="connsiteY2" fmla="*/ 3423 h 1138203"/>
                <a:gd name="connsiteX3" fmla="*/ 365337 w 576167"/>
                <a:gd name="connsiteY3" fmla="*/ 27905 h 1138203"/>
                <a:gd name="connsiteX4" fmla="*/ 339334 w 576167"/>
                <a:gd name="connsiteY4" fmla="*/ -269 h 1138203"/>
                <a:gd name="connsiteX5" fmla="*/ 169341 w 576167"/>
                <a:gd name="connsiteY5" fmla="*/ 184504 h 1138203"/>
                <a:gd name="connsiteX6" fmla="*/ 102827 w 576167"/>
                <a:gd name="connsiteY6" fmla="*/ 228853 h 1138203"/>
                <a:gd name="connsiteX7" fmla="*/ -314 w 576167"/>
                <a:gd name="connsiteY7" fmla="*/ 982391 h 1138203"/>
                <a:gd name="connsiteX8" fmla="*/ 155230 w 576167"/>
                <a:gd name="connsiteY8" fmla="*/ 1137934 h 1138203"/>
                <a:gd name="connsiteX9" fmla="*/ 516717 w 576167"/>
                <a:gd name="connsiteY9" fmla="*/ 1137934 h 1138203"/>
                <a:gd name="connsiteX10" fmla="*/ 516717 w 576167"/>
                <a:gd name="connsiteY10" fmla="*/ 191895 h 113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6167" h="1138203">
                  <a:moveTo>
                    <a:pt x="435009" y="103380"/>
                  </a:moveTo>
                  <a:lnTo>
                    <a:pt x="435009" y="3423"/>
                  </a:lnTo>
                  <a:lnTo>
                    <a:pt x="365337" y="3423"/>
                  </a:lnTo>
                  <a:lnTo>
                    <a:pt x="365337" y="27905"/>
                  </a:lnTo>
                  <a:lnTo>
                    <a:pt x="339334" y="-269"/>
                  </a:lnTo>
                  <a:lnTo>
                    <a:pt x="169341" y="184504"/>
                  </a:lnTo>
                  <a:lnTo>
                    <a:pt x="102827" y="228853"/>
                  </a:lnTo>
                  <a:lnTo>
                    <a:pt x="-314" y="982391"/>
                  </a:lnTo>
                  <a:lnTo>
                    <a:pt x="155230" y="1137934"/>
                  </a:lnTo>
                  <a:lnTo>
                    <a:pt x="516717" y="1137934"/>
                  </a:lnTo>
                  <a:cubicBezTo>
                    <a:pt x="572106" y="859314"/>
                    <a:pt x="616025" y="573093"/>
                    <a:pt x="516717" y="19189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59D4FF68-E11B-430E-BE98-1DF911327749}"/>
                </a:ext>
              </a:extLst>
            </p:cNvPr>
            <p:cNvSpPr/>
            <p:nvPr/>
          </p:nvSpPr>
          <p:spPr>
            <a:xfrm>
              <a:off x="9362440" y="3270885"/>
              <a:ext cx="614045" cy="907415"/>
            </a:xfrm>
            <a:custGeom>
              <a:avLst/>
              <a:gdLst>
                <a:gd name="connsiteX0" fmla="*/ 57585 w 619609"/>
                <a:gd name="connsiteY0" fmla="*/ -269 h 953429"/>
                <a:gd name="connsiteX1" fmla="*/ 619296 w 619609"/>
                <a:gd name="connsiteY1" fmla="*/ -269 h 953429"/>
                <a:gd name="connsiteX2" fmla="*/ 619296 w 619609"/>
                <a:gd name="connsiteY2" fmla="*/ 953161 h 953429"/>
                <a:gd name="connsiteX3" fmla="*/ 57585 w 619609"/>
                <a:gd name="connsiteY3" fmla="*/ 953161 h 953429"/>
                <a:gd name="connsiteX4" fmla="*/ 57585 w 619609"/>
                <a:gd name="connsiteY4" fmla="*/ -269 h 95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609" h="953429">
                  <a:moveTo>
                    <a:pt x="57585" y="-269"/>
                  </a:moveTo>
                  <a:lnTo>
                    <a:pt x="619296" y="-269"/>
                  </a:lnTo>
                  <a:lnTo>
                    <a:pt x="619296" y="953161"/>
                  </a:lnTo>
                  <a:lnTo>
                    <a:pt x="57585" y="953161"/>
                  </a:lnTo>
                  <a:cubicBezTo>
                    <a:pt x="-3881" y="582761"/>
                    <a:pt x="-33899" y="239271"/>
                    <a:pt x="57585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7B61E611-3A83-4BFA-BB34-89831BB110BB}"/>
                </a:ext>
              </a:extLst>
            </p:cNvPr>
            <p:cNvSpPr/>
            <p:nvPr/>
          </p:nvSpPr>
          <p:spPr>
            <a:xfrm>
              <a:off x="9635490" y="3956685"/>
              <a:ext cx="102235" cy="221615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56737EA8-E5CF-4371-8173-16CDAD2C7E3B}"/>
                </a:ext>
              </a:extLst>
            </p:cNvPr>
            <p:cNvSpPr/>
            <p:nvPr/>
          </p:nvSpPr>
          <p:spPr>
            <a:xfrm>
              <a:off x="9481820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F273ABC0-24B9-4A2A-89DA-A70F534FE4F2}"/>
                </a:ext>
              </a:extLst>
            </p:cNvPr>
            <p:cNvSpPr/>
            <p:nvPr/>
          </p:nvSpPr>
          <p:spPr>
            <a:xfrm>
              <a:off x="9481820" y="4048125"/>
              <a:ext cx="43815" cy="34925"/>
            </a:xfrm>
            <a:custGeom>
              <a:avLst/>
              <a:gdLst>
                <a:gd name="connsiteX0" fmla="*/ 40651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1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1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3D10913C-2D01-4AD8-A570-2B3C3E153525}"/>
                </a:ext>
              </a:extLst>
            </p:cNvPr>
            <p:cNvSpPr/>
            <p:nvPr/>
          </p:nvSpPr>
          <p:spPr>
            <a:xfrm>
              <a:off x="9554845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D8EFFA32-3240-4EE4-BF66-36329E0338B7}"/>
                </a:ext>
              </a:extLst>
            </p:cNvPr>
            <p:cNvSpPr/>
            <p:nvPr/>
          </p:nvSpPr>
          <p:spPr>
            <a:xfrm>
              <a:off x="9782175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55ED14B8-5073-4CE0-BD5A-57158A238666}"/>
                </a:ext>
              </a:extLst>
            </p:cNvPr>
            <p:cNvSpPr/>
            <p:nvPr/>
          </p:nvSpPr>
          <p:spPr>
            <a:xfrm>
              <a:off x="9855200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5E2CBB2A-A69F-427E-B839-1A477514EA8D}"/>
                </a:ext>
              </a:extLst>
            </p:cNvPr>
            <p:cNvSpPr/>
            <p:nvPr/>
          </p:nvSpPr>
          <p:spPr>
            <a:xfrm>
              <a:off x="9855200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CAA3D9AA-06E7-44B0-ADA0-059D97625900}"/>
                </a:ext>
              </a:extLst>
            </p:cNvPr>
            <p:cNvSpPr/>
            <p:nvPr/>
          </p:nvSpPr>
          <p:spPr>
            <a:xfrm>
              <a:off x="10089515" y="3281680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CA46525B-0BCF-418D-B178-044AFF35F36F}"/>
                </a:ext>
              </a:extLst>
            </p:cNvPr>
            <p:cNvSpPr/>
            <p:nvPr/>
          </p:nvSpPr>
          <p:spPr>
            <a:xfrm>
              <a:off x="10089515" y="3344545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ACF33343-3A68-473F-98D2-6C5716F7D1F1}"/>
                </a:ext>
              </a:extLst>
            </p:cNvPr>
            <p:cNvSpPr/>
            <p:nvPr/>
          </p:nvSpPr>
          <p:spPr>
            <a:xfrm>
              <a:off x="10162540" y="32816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B7304BD4-E887-4B48-A47D-8A492F7BDB5A}"/>
                </a:ext>
              </a:extLst>
            </p:cNvPr>
            <p:cNvSpPr/>
            <p:nvPr/>
          </p:nvSpPr>
          <p:spPr>
            <a:xfrm>
              <a:off x="10162540" y="334454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F2B88610-A6B2-4EBA-8892-C118563E8B7C}"/>
                </a:ext>
              </a:extLst>
            </p:cNvPr>
            <p:cNvSpPr/>
            <p:nvPr/>
          </p:nvSpPr>
          <p:spPr>
            <a:xfrm>
              <a:off x="10089515" y="347853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BB2FAB04-7447-45D9-BABE-EAA12F4C4629}"/>
                </a:ext>
              </a:extLst>
            </p:cNvPr>
            <p:cNvSpPr/>
            <p:nvPr/>
          </p:nvSpPr>
          <p:spPr>
            <a:xfrm>
              <a:off x="10089515" y="354203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3EE77BE6-9535-4D04-BC79-95CF4A681071}"/>
                </a:ext>
              </a:extLst>
            </p:cNvPr>
            <p:cNvSpPr/>
            <p:nvPr/>
          </p:nvSpPr>
          <p:spPr>
            <a:xfrm>
              <a:off x="10162540" y="34785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4D847192-4CD9-46F9-8694-FEDBC5EABF47}"/>
                </a:ext>
              </a:extLst>
            </p:cNvPr>
            <p:cNvSpPr/>
            <p:nvPr/>
          </p:nvSpPr>
          <p:spPr>
            <a:xfrm>
              <a:off x="10162540" y="354139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495A96A7-B3E3-4DFA-80E3-0084B61125BE}"/>
                </a:ext>
              </a:extLst>
            </p:cNvPr>
            <p:cNvSpPr/>
            <p:nvPr/>
          </p:nvSpPr>
          <p:spPr>
            <a:xfrm>
              <a:off x="10089515" y="367538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0F880789-1C12-40A4-B30D-6944AE6F99E8}"/>
                </a:ext>
              </a:extLst>
            </p:cNvPr>
            <p:cNvSpPr/>
            <p:nvPr/>
          </p:nvSpPr>
          <p:spPr>
            <a:xfrm>
              <a:off x="10089515" y="373888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331FF64A-193D-4CE2-BB28-156139C415ED}"/>
                </a:ext>
              </a:extLst>
            </p:cNvPr>
            <p:cNvSpPr/>
            <p:nvPr/>
          </p:nvSpPr>
          <p:spPr>
            <a:xfrm>
              <a:off x="10162540" y="36753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172230A8-B5E1-4471-ADEE-04C9872FA11A}"/>
                </a:ext>
              </a:extLst>
            </p:cNvPr>
            <p:cNvSpPr/>
            <p:nvPr/>
          </p:nvSpPr>
          <p:spPr>
            <a:xfrm>
              <a:off x="10162540" y="37388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4CE03375-FD49-48B0-A603-200851107231}"/>
                </a:ext>
              </a:extLst>
            </p:cNvPr>
            <p:cNvSpPr/>
            <p:nvPr/>
          </p:nvSpPr>
          <p:spPr>
            <a:xfrm>
              <a:off x="10089515" y="387223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82A802DA-688C-49FA-965D-7C80AA2E9461}"/>
                </a:ext>
              </a:extLst>
            </p:cNvPr>
            <p:cNvSpPr/>
            <p:nvPr/>
          </p:nvSpPr>
          <p:spPr>
            <a:xfrm>
              <a:off x="10089515" y="393573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AFCD285E-CF8F-4248-94AB-EB37302D8FA5}"/>
                </a:ext>
              </a:extLst>
            </p:cNvPr>
            <p:cNvSpPr/>
            <p:nvPr/>
          </p:nvSpPr>
          <p:spPr>
            <a:xfrm>
              <a:off x="10162540" y="38722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BD04327F-DE21-46E8-957F-85C9477D5BED}"/>
                </a:ext>
              </a:extLst>
            </p:cNvPr>
            <p:cNvSpPr/>
            <p:nvPr/>
          </p:nvSpPr>
          <p:spPr>
            <a:xfrm>
              <a:off x="10162540" y="39357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D8D35C8C-3784-4744-A4F9-588B40B123D2}"/>
                </a:ext>
              </a:extLst>
            </p:cNvPr>
            <p:cNvSpPr/>
            <p:nvPr/>
          </p:nvSpPr>
          <p:spPr>
            <a:xfrm>
              <a:off x="9481820" y="331660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90961" y="50505"/>
                    <a:pt x="147674" y="5322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9C2D8F44-AEB3-489F-8E03-54BC22C00585}"/>
                </a:ext>
              </a:extLst>
            </p:cNvPr>
            <p:cNvSpPr/>
            <p:nvPr/>
          </p:nvSpPr>
          <p:spPr>
            <a:xfrm>
              <a:off x="9481820" y="348551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3482" y="39148"/>
                    <a:pt x="276373" y="3914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0EF59F25-F866-4AF3-8648-A578C6B0FD26}"/>
                </a:ext>
              </a:extLst>
            </p:cNvPr>
            <p:cNvSpPr/>
            <p:nvPr/>
          </p:nvSpPr>
          <p:spPr>
            <a:xfrm>
              <a:off x="9481820" y="365442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82273" y="41774"/>
                    <a:pt x="139227" y="3957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99B5A67B-1393-4EE5-AD50-4C20E363A0BE}"/>
                </a:ext>
              </a:extLst>
            </p:cNvPr>
            <p:cNvSpPr/>
            <p:nvPr/>
          </p:nvSpPr>
          <p:spPr>
            <a:xfrm>
              <a:off x="9481820" y="382333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9495" y="53608"/>
                    <a:pt x="282514" y="5136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C436CAC5-547E-4B57-8A56-C59F68D8E876}"/>
                </a:ext>
              </a:extLst>
            </p:cNvPr>
            <p:cNvSpPr/>
            <p:nvPr/>
          </p:nvSpPr>
          <p:spPr>
            <a:xfrm>
              <a:off x="11558905" y="3676650"/>
              <a:ext cx="503555" cy="172720"/>
            </a:xfrm>
            <a:custGeom>
              <a:avLst/>
              <a:gdLst>
                <a:gd name="connsiteX0" fmla="*/ 206610 w 508118"/>
                <a:gd name="connsiteY0" fmla="*/ -269 h 181483"/>
                <a:gd name="connsiteX1" fmla="*/ 507805 w 508118"/>
                <a:gd name="connsiteY1" fmla="*/ -269 h 181483"/>
                <a:gd name="connsiteX2" fmla="*/ 507805 w 508118"/>
                <a:gd name="connsiteY2" fmla="*/ 144861 h 181483"/>
                <a:gd name="connsiteX3" fmla="*/ 480901 w 508118"/>
                <a:gd name="connsiteY3" fmla="*/ 153281 h 181483"/>
                <a:gd name="connsiteX4" fmla="*/ 391400 w 508118"/>
                <a:gd name="connsiteY4" fmla="*/ 181214 h 181483"/>
                <a:gd name="connsiteX5" fmla="*/ 250986 w 508118"/>
                <a:gd name="connsiteY5" fmla="*/ 148688 h 181483"/>
                <a:gd name="connsiteX6" fmla="*/ 110732 w 508118"/>
                <a:gd name="connsiteY6" fmla="*/ 116184 h 181483"/>
                <a:gd name="connsiteX7" fmla="*/ 36666 w 508118"/>
                <a:gd name="connsiteY7" fmla="*/ 99028 h 181483"/>
                <a:gd name="connsiteX8" fmla="*/ -314 w 508118"/>
                <a:gd name="connsiteY8" fmla="*/ 85346 h 181483"/>
                <a:gd name="connsiteX9" fmla="*/ 206610 w 508118"/>
                <a:gd name="connsiteY9" fmla="*/ -269 h 18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118" h="181483">
                  <a:moveTo>
                    <a:pt x="206610" y="-269"/>
                  </a:moveTo>
                  <a:lnTo>
                    <a:pt x="507805" y="-269"/>
                  </a:lnTo>
                  <a:lnTo>
                    <a:pt x="507805" y="144861"/>
                  </a:lnTo>
                  <a:lnTo>
                    <a:pt x="480901" y="153281"/>
                  </a:lnTo>
                  <a:lnTo>
                    <a:pt x="391400" y="181214"/>
                  </a:lnTo>
                  <a:lnTo>
                    <a:pt x="250986" y="148688"/>
                  </a:lnTo>
                  <a:lnTo>
                    <a:pt x="110732" y="116184"/>
                  </a:lnTo>
                  <a:lnTo>
                    <a:pt x="36666" y="99028"/>
                  </a:lnTo>
                  <a:lnTo>
                    <a:pt x="-314" y="85346"/>
                  </a:lnTo>
                  <a:cubicBezTo>
                    <a:pt x="30449" y="43136"/>
                    <a:pt x="86400" y="9935"/>
                    <a:pt x="206610" y="-269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821EC4B6-DAD9-42A2-AA20-1C6CFF22D813}"/>
                </a:ext>
              </a:extLst>
            </p:cNvPr>
            <p:cNvSpPr/>
            <p:nvPr/>
          </p:nvSpPr>
          <p:spPr>
            <a:xfrm>
              <a:off x="11501755" y="3757930"/>
              <a:ext cx="560705" cy="420370"/>
            </a:xfrm>
            <a:custGeom>
              <a:avLst/>
              <a:gdLst>
                <a:gd name="connsiteX0" fmla="*/ 565639 w 565952"/>
                <a:gd name="connsiteY0" fmla="*/ -269 h 441721"/>
                <a:gd name="connsiteX1" fmla="*/ 565639 w 565952"/>
                <a:gd name="connsiteY1" fmla="*/ 441452 h 441721"/>
                <a:gd name="connsiteX2" fmla="*/ 57521 w 565952"/>
                <a:gd name="connsiteY2" fmla="*/ 441452 h 441721"/>
                <a:gd name="connsiteX3" fmla="*/ 57093 w 565952"/>
                <a:gd name="connsiteY3" fmla="*/ 440653 h 441721"/>
                <a:gd name="connsiteX4" fmla="*/ 57093 w 565952"/>
                <a:gd name="connsiteY4" fmla="*/ 440632 h 441721"/>
                <a:gd name="connsiteX5" fmla="*/ 56664 w 565952"/>
                <a:gd name="connsiteY5" fmla="*/ 439737 h 441721"/>
                <a:gd name="connsiteX6" fmla="*/ 35334 w 565952"/>
                <a:gd name="connsiteY6" fmla="*/ 391964 h 441721"/>
                <a:gd name="connsiteX7" fmla="*/ 57521 w 565952"/>
                <a:gd name="connsiteY7" fmla="*/ -269 h 4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5952" h="441721">
                  <a:moveTo>
                    <a:pt x="565639" y="-269"/>
                  </a:moveTo>
                  <a:lnTo>
                    <a:pt x="565639" y="441452"/>
                  </a:lnTo>
                  <a:lnTo>
                    <a:pt x="57521" y="441452"/>
                  </a:lnTo>
                  <a:cubicBezTo>
                    <a:pt x="57360" y="441179"/>
                    <a:pt x="57253" y="440927"/>
                    <a:pt x="57093" y="440653"/>
                  </a:cubicBezTo>
                  <a:lnTo>
                    <a:pt x="57093" y="440632"/>
                  </a:lnTo>
                  <a:cubicBezTo>
                    <a:pt x="56969" y="440321"/>
                    <a:pt x="56830" y="440026"/>
                    <a:pt x="56664" y="439737"/>
                  </a:cubicBezTo>
                  <a:cubicBezTo>
                    <a:pt x="48732" y="423771"/>
                    <a:pt x="41620" y="407849"/>
                    <a:pt x="35334" y="391964"/>
                  </a:cubicBezTo>
                  <a:cubicBezTo>
                    <a:pt x="-17992" y="257562"/>
                    <a:pt x="-12204" y="126709"/>
                    <a:pt x="57521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4945369B-A743-4A27-9093-3B6DA916B9BE}"/>
                </a:ext>
              </a:extLst>
            </p:cNvPr>
            <p:cNvSpPr/>
            <p:nvPr/>
          </p:nvSpPr>
          <p:spPr>
            <a:xfrm>
              <a:off x="11774805" y="3956685"/>
              <a:ext cx="102235" cy="221615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8DDC8540-CCD6-4A42-90CD-C64EC4038E92}"/>
                </a:ext>
              </a:extLst>
            </p:cNvPr>
            <p:cNvSpPr/>
            <p:nvPr/>
          </p:nvSpPr>
          <p:spPr>
            <a:xfrm>
              <a:off x="11621135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DF94019A-EAAE-4EE2-BE26-66BEEBF9B42F}"/>
                </a:ext>
              </a:extLst>
            </p:cNvPr>
            <p:cNvSpPr/>
            <p:nvPr/>
          </p:nvSpPr>
          <p:spPr>
            <a:xfrm>
              <a:off x="11621135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6BFB1048-DF79-40A2-92E8-951D77089606}"/>
                </a:ext>
              </a:extLst>
            </p:cNvPr>
            <p:cNvSpPr/>
            <p:nvPr/>
          </p:nvSpPr>
          <p:spPr>
            <a:xfrm>
              <a:off x="11694160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4" name="자유형: 도형 273">
              <a:extLst>
                <a:ext uri="{FF2B5EF4-FFF2-40B4-BE49-F238E27FC236}">
                  <a16:creationId xmlns:a16="http://schemas.microsoft.com/office/drawing/2014/main" id="{AB067930-12D5-44BF-98CF-DADDE00A49E8}"/>
                </a:ext>
              </a:extLst>
            </p:cNvPr>
            <p:cNvSpPr/>
            <p:nvPr/>
          </p:nvSpPr>
          <p:spPr>
            <a:xfrm>
              <a:off x="11694160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8744A48D-6989-4C8B-BC14-3CDC50FED75B}"/>
                </a:ext>
              </a:extLst>
            </p:cNvPr>
            <p:cNvSpPr/>
            <p:nvPr/>
          </p:nvSpPr>
          <p:spPr>
            <a:xfrm>
              <a:off x="11921490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A0DFEDCF-DA1E-493B-A0EE-81037A7C430A}"/>
                </a:ext>
              </a:extLst>
            </p:cNvPr>
            <p:cNvSpPr/>
            <p:nvPr/>
          </p:nvSpPr>
          <p:spPr>
            <a:xfrm>
              <a:off x="11921490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2868A23A-8696-4DE1-9570-27C4F5CCADA0}"/>
                </a:ext>
              </a:extLst>
            </p:cNvPr>
            <p:cNvSpPr/>
            <p:nvPr/>
          </p:nvSpPr>
          <p:spPr>
            <a:xfrm>
              <a:off x="11994515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3936D764-C20D-4FC9-95ED-99B10D45E3DC}"/>
                </a:ext>
              </a:extLst>
            </p:cNvPr>
            <p:cNvSpPr/>
            <p:nvPr/>
          </p:nvSpPr>
          <p:spPr>
            <a:xfrm>
              <a:off x="11994515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7FB9156F-1A97-455E-A2ED-669608C76B2B}"/>
                </a:ext>
              </a:extLst>
            </p:cNvPr>
            <p:cNvSpPr/>
            <p:nvPr/>
          </p:nvSpPr>
          <p:spPr>
            <a:xfrm>
              <a:off x="11668760" y="3513455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BC3E728B-447D-4924-8778-84E991F5466E}"/>
                </a:ext>
              </a:extLst>
            </p:cNvPr>
            <p:cNvSpPr/>
            <p:nvPr/>
          </p:nvSpPr>
          <p:spPr>
            <a:xfrm>
              <a:off x="9758045" y="2901315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29DB3CDE-4ECD-45FA-8B6E-CA1393854B75}"/>
                </a:ext>
              </a:extLst>
            </p:cNvPr>
            <p:cNvSpPr/>
            <p:nvPr/>
          </p:nvSpPr>
          <p:spPr>
            <a:xfrm>
              <a:off x="10766425" y="3467100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DA7A4EE2-07CA-4C6C-A381-03CEBFBC4E60}"/>
                </a:ext>
              </a:extLst>
            </p:cNvPr>
            <p:cNvSpPr/>
            <p:nvPr/>
          </p:nvSpPr>
          <p:spPr>
            <a:xfrm>
              <a:off x="11668760" y="3823335"/>
              <a:ext cx="297815" cy="84455"/>
            </a:xfrm>
            <a:custGeom>
              <a:avLst/>
              <a:gdLst>
                <a:gd name="connsiteX0" fmla="*/ 0 w 300590"/>
                <a:gd name="connsiteY0" fmla="*/ 0 h 88691"/>
                <a:gd name="connsiteX1" fmla="*/ 300591 w 300590"/>
                <a:gd name="connsiteY1" fmla="*/ 0 h 88691"/>
                <a:gd name="connsiteX2" fmla="*/ 300591 w 300590"/>
                <a:gd name="connsiteY2" fmla="*/ 88691 h 88691"/>
                <a:gd name="connsiteX3" fmla="*/ 0 w 300590"/>
                <a:gd name="connsiteY3" fmla="*/ 88691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590" h="88691">
                  <a:moveTo>
                    <a:pt x="0" y="0"/>
                  </a:moveTo>
                  <a:lnTo>
                    <a:pt x="300591" y="0"/>
                  </a:lnTo>
                  <a:lnTo>
                    <a:pt x="300591" y="88691"/>
                  </a:lnTo>
                  <a:lnTo>
                    <a:pt x="0" y="8869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6A210F89-ED4D-4657-8F50-D404B205C400}"/>
                </a:ext>
              </a:extLst>
            </p:cNvPr>
            <p:cNvSpPr/>
            <p:nvPr/>
          </p:nvSpPr>
          <p:spPr>
            <a:xfrm>
              <a:off x="9036050" y="4175125"/>
              <a:ext cx="3025775" cy="10160"/>
            </a:xfrm>
            <a:custGeom>
              <a:avLst/>
              <a:gdLst>
                <a:gd name="connsiteX0" fmla="*/ 0 w 3054818"/>
                <a:gd name="connsiteY0" fmla="*/ 0 h 10718"/>
                <a:gd name="connsiteX1" fmla="*/ 3054818 w 3054818"/>
                <a:gd name="connsiteY1" fmla="*/ 0 h 10718"/>
                <a:gd name="connsiteX2" fmla="*/ 3054818 w 3054818"/>
                <a:gd name="connsiteY2" fmla="*/ 10719 h 10718"/>
                <a:gd name="connsiteX3" fmla="*/ 0 w 3054818"/>
                <a:gd name="connsiteY3" fmla="*/ 10719 h 10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4818" h="10718">
                  <a:moveTo>
                    <a:pt x="0" y="0"/>
                  </a:moveTo>
                  <a:lnTo>
                    <a:pt x="3054818" y="0"/>
                  </a:lnTo>
                  <a:lnTo>
                    <a:pt x="3054818" y="10719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C4FEC323-A257-4272-BA3A-B335F5CDD838}"/>
                </a:ext>
              </a:extLst>
            </p:cNvPr>
            <p:cNvSpPr/>
            <p:nvPr/>
          </p:nvSpPr>
          <p:spPr>
            <a:xfrm>
              <a:off x="9304655" y="3771900"/>
              <a:ext cx="10795" cy="403225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7AFDEEE4-0E6B-4440-B189-231C1DE2FA91}"/>
                </a:ext>
              </a:extLst>
            </p:cNvPr>
            <p:cNvSpPr/>
            <p:nvPr/>
          </p:nvSpPr>
          <p:spPr>
            <a:xfrm>
              <a:off x="9202420" y="3568700"/>
              <a:ext cx="210820" cy="510540"/>
            </a:xfrm>
            <a:custGeom>
              <a:avLst/>
              <a:gdLst>
                <a:gd name="connsiteX0" fmla="*/ 212834 w 213150"/>
                <a:gd name="connsiteY0" fmla="*/ 267311 h 536131"/>
                <a:gd name="connsiteX1" fmla="*/ 109356 w 213150"/>
                <a:gd name="connsiteY1" fmla="*/ 535862 h 536131"/>
                <a:gd name="connsiteX2" fmla="*/ 3407 w 213150"/>
                <a:gd name="connsiteY2" fmla="*/ 268276 h 536131"/>
                <a:gd name="connsiteX3" fmla="*/ 106885 w 213150"/>
                <a:gd name="connsiteY3" fmla="*/ -269 h 536131"/>
                <a:gd name="connsiteX4" fmla="*/ 212834 w 213150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50" h="536131">
                  <a:moveTo>
                    <a:pt x="212834" y="267311"/>
                  </a:moveTo>
                  <a:cubicBezTo>
                    <a:pt x="213514" y="415363"/>
                    <a:pt x="109356" y="535862"/>
                    <a:pt x="109356" y="535862"/>
                  </a:cubicBezTo>
                  <a:cubicBezTo>
                    <a:pt x="109356" y="535862"/>
                    <a:pt x="-24038" y="413760"/>
                    <a:pt x="3407" y="268276"/>
                  </a:cubicBezTo>
                  <a:cubicBezTo>
                    <a:pt x="31002" y="121966"/>
                    <a:pt x="117020" y="352"/>
                    <a:pt x="106885" y="-269"/>
                  </a:cubicBezTo>
                  <a:cubicBezTo>
                    <a:pt x="106885" y="-269"/>
                    <a:pt x="212148" y="119265"/>
                    <a:pt x="212834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1E74FF04-BC41-4EE1-AB27-A6F90B8BF181}"/>
                </a:ext>
              </a:extLst>
            </p:cNvPr>
            <p:cNvSpPr/>
            <p:nvPr/>
          </p:nvSpPr>
          <p:spPr>
            <a:xfrm>
              <a:off x="10366375" y="3771900"/>
              <a:ext cx="10795" cy="403225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085EC264-3CBC-4E37-B4D6-55341660F402}"/>
                </a:ext>
              </a:extLst>
            </p:cNvPr>
            <p:cNvSpPr/>
            <p:nvPr/>
          </p:nvSpPr>
          <p:spPr>
            <a:xfrm>
              <a:off x="10267950" y="3568700"/>
              <a:ext cx="208280" cy="510540"/>
            </a:xfrm>
            <a:custGeom>
              <a:avLst/>
              <a:gdLst>
                <a:gd name="connsiteX0" fmla="*/ 209116 w 210014"/>
                <a:gd name="connsiteY0" fmla="*/ 267311 h 536131"/>
                <a:gd name="connsiteX1" fmla="*/ 105638 w 210014"/>
                <a:gd name="connsiteY1" fmla="*/ 535862 h 536131"/>
                <a:gd name="connsiteX2" fmla="*/ -310 w 210014"/>
                <a:gd name="connsiteY2" fmla="*/ 268276 h 536131"/>
                <a:gd name="connsiteX3" fmla="*/ 103168 w 210014"/>
                <a:gd name="connsiteY3" fmla="*/ -269 h 536131"/>
                <a:gd name="connsiteX4" fmla="*/ 209116 w 210014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014" h="536131">
                  <a:moveTo>
                    <a:pt x="209116" y="267311"/>
                  </a:moveTo>
                  <a:cubicBezTo>
                    <a:pt x="218774" y="415047"/>
                    <a:pt x="105638" y="535862"/>
                    <a:pt x="105638" y="535862"/>
                  </a:cubicBezTo>
                  <a:cubicBezTo>
                    <a:pt x="105638" y="535862"/>
                    <a:pt x="370" y="416327"/>
                    <a:pt x="-310" y="268276"/>
                  </a:cubicBezTo>
                  <a:cubicBezTo>
                    <a:pt x="-996" y="120230"/>
                    <a:pt x="103168" y="-269"/>
                    <a:pt x="103168" y="-269"/>
                  </a:cubicBezTo>
                  <a:cubicBezTo>
                    <a:pt x="93012" y="40312"/>
                    <a:pt x="201297" y="147777"/>
                    <a:pt x="209116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8" name="자유형: 도형 287">
              <a:extLst>
                <a:ext uri="{FF2B5EF4-FFF2-40B4-BE49-F238E27FC236}">
                  <a16:creationId xmlns:a16="http://schemas.microsoft.com/office/drawing/2014/main" id="{28F5D58B-D222-4AA7-AEA2-E4A0B7001926}"/>
                </a:ext>
              </a:extLst>
            </p:cNvPr>
            <p:cNvSpPr/>
            <p:nvPr/>
          </p:nvSpPr>
          <p:spPr>
            <a:xfrm>
              <a:off x="9687560" y="3094990"/>
              <a:ext cx="654685" cy="184785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7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7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9" name="자유형: 도형 288">
              <a:extLst>
                <a:ext uri="{FF2B5EF4-FFF2-40B4-BE49-F238E27FC236}">
                  <a16:creationId xmlns:a16="http://schemas.microsoft.com/office/drawing/2014/main" id="{D712B89E-CEC2-4E3D-97F9-8D96BB30B572}"/>
                </a:ext>
              </a:extLst>
            </p:cNvPr>
            <p:cNvSpPr/>
            <p:nvPr/>
          </p:nvSpPr>
          <p:spPr>
            <a:xfrm>
              <a:off x="9020810" y="3681730"/>
              <a:ext cx="206375" cy="184785"/>
            </a:xfrm>
            <a:custGeom>
              <a:avLst/>
              <a:gdLst>
                <a:gd name="connsiteX0" fmla="*/ 207789 w 208102"/>
                <a:gd name="connsiteY0" fmla="*/ 162761 h 194222"/>
                <a:gd name="connsiteX1" fmla="*/ 182708 w 208102"/>
                <a:gd name="connsiteY1" fmla="*/ 185432 h 194222"/>
                <a:gd name="connsiteX2" fmla="*/ 179653 w 208102"/>
                <a:gd name="connsiteY2" fmla="*/ 188165 h 194222"/>
                <a:gd name="connsiteX3" fmla="*/ 173275 w 208102"/>
                <a:gd name="connsiteY3" fmla="*/ 193953 h 194222"/>
                <a:gd name="connsiteX4" fmla="*/ 15121 w 208102"/>
                <a:gd name="connsiteY4" fmla="*/ 190416 h 194222"/>
                <a:gd name="connsiteX5" fmla="*/ 15121 w 208102"/>
                <a:gd name="connsiteY5" fmla="*/ 3589 h 194222"/>
                <a:gd name="connsiteX6" fmla="*/ -314 w 208102"/>
                <a:gd name="connsiteY6" fmla="*/ 374 h 194222"/>
                <a:gd name="connsiteX7" fmla="*/ 12495 w 208102"/>
                <a:gd name="connsiteY7" fmla="*/ -269 h 194222"/>
                <a:gd name="connsiteX8" fmla="*/ 15121 w 208102"/>
                <a:gd name="connsiteY8" fmla="*/ 1928 h 194222"/>
                <a:gd name="connsiteX9" fmla="*/ 39614 w 208102"/>
                <a:gd name="connsiteY9" fmla="*/ 22347 h 194222"/>
                <a:gd name="connsiteX10" fmla="*/ 109285 w 208102"/>
                <a:gd name="connsiteY10" fmla="*/ 80549 h 194222"/>
                <a:gd name="connsiteX11" fmla="*/ 187102 w 208102"/>
                <a:gd name="connsiteY11" fmla="*/ 145505 h 19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8102" h="194222">
                  <a:moveTo>
                    <a:pt x="207789" y="162761"/>
                  </a:moveTo>
                  <a:lnTo>
                    <a:pt x="182708" y="185432"/>
                  </a:lnTo>
                  <a:lnTo>
                    <a:pt x="179653" y="188165"/>
                  </a:lnTo>
                  <a:lnTo>
                    <a:pt x="173275" y="193953"/>
                  </a:lnTo>
                  <a:lnTo>
                    <a:pt x="15121" y="190416"/>
                  </a:lnTo>
                  <a:lnTo>
                    <a:pt x="15121" y="3589"/>
                  </a:lnTo>
                  <a:cubicBezTo>
                    <a:pt x="9976" y="2464"/>
                    <a:pt x="4831" y="1392"/>
                    <a:pt x="-314" y="374"/>
                  </a:cubicBezTo>
                  <a:lnTo>
                    <a:pt x="12495" y="-269"/>
                  </a:lnTo>
                  <a:lnTo>
                    <a:pt x="15121" y="1928"/>
                  </a:lnTo>
                  <a:lnTo>
                    <a:pt x="39614" y="22347"/>
                  </a:lnTo>
                  <a:lnTo>
                    <a:pt x="109285" y="80549"/>
                  </a:lnTo>
                  <a:lnTo>
                    <a:pt x="187102" y="14550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5B56CDF2-20E4-4522-A06D-19E999EE3628}"/>
                </a:ext>
              </a:extLst>
            </p:cNvPr>
            <p:cNvSpPr/>
            <p:nvPr/>
          </p:nvSpPr>
          <p:spPr>
            <a:xfrm>
              <a:off x="10695940" y="3681730"/>
              <a:ext cx="654685" cy="184785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6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6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92" name="그래픽 291">
            <a:extLst>
              <a:ext uri="{FF2B5EF4-FFF2-40B4-BE49-F238E27FC236}">
                <a16:creationId xmlns:a16="http://schemas.microsoft.com/office/drawing/2014/main" id="{0EA42603-BB24-4731-9907-6B974EA81D3C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19470" y="2447290"/>
            <a:ext cx="2919730" cy="1759585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EB8193ED-6F22-48E0-A9C0-9CF07CDC4826}"/>
              </a:ext>
            </a:extLst>
          </p:cNvPr>
          <p:cNvSpPr txBox="1"/>
          <p:nvPr/>
        </p:nvSpPr>
        <p:spPr>
          <a:xfrm>
            <a:off x="6125210" y="5048885"/>
            <a:ext cx="2491105" cy="48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해당 지역의 날씨로 추천엔진을 이용해 음식 카테고리 추천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2E7D8F-975D-4214-BC0F-C2D4FF61B48E}"/>
              </a:ext>
            </a:extLst>
          </p:cNvPr>
          <p:cNvSpPr txBox="1"/>
          <p:nvPr/>
        </p:nvSpPr>
        <p:spPr>
          <a:xfrm>
            <a:off x="6384290" y="4267835"/>
            <a:ext cx="1932305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3</a:t>
            </a: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음식 카테고리 추천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8DB2C42-5B85-41D0-99B2-2002B3EAA560}"/>
              </a:ext>
            </a:extLst>
          </p:cNvPr>
          <p:cNvSpPr txBox="1"/>
          <p:nvPr/>
        </p:nvSpPr>
        <p:spPr>
          <a:xfrm>
            <a:off x="9436100" y="4876067"/>
            <a:ext cx="2122805" cy="69006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해당 카테고리의 음식점 목록을 거리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감성점수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리뷰개수로 랭킹을 정해 추천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6855F52-EE33-4A45-8E57-B864EEB0E419}"/>
              </a:ext>
            </a:extLst>
          </p:cNvPr>
          <p:cNvSpPr txBox="1"/>
          <p:nvPr/>
        </p:nvSpPr>
        <p:spPr>
          <a:xfrm>
            <a:off x="9571355" y="4302760"/>
            <a:ext cx="1889760" cy="41338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4.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음식점 추천</a:t>
            </a:r>
          </a:p>
        </p:txBody>
      </p:sp>
      <p:cxnSp>
        <p:nvCxnSpPr>
          <p:cNvPr id="300" name="직선 연결선 299"/>
          <p:cNvCxnSpPr/>
          <p:nvPr/>
        </p:nvCxnSpPr>
        <p:spPr>
          <a:xfrm>
            <a:off x="8940165" y="2150745"/>
            <a:ext cx="635" cy="3783965"/>
          </a:xfrm>
          <a:prstGeom prst="line">
            <a:avLst/>
          </a:prstGeom>
          <a:ln w="19050" cap="flat" cmpd="sng"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화살표: 오른쪽 302">
            <a:extLst>
              <a:ext uri="{FF2B5EF4-FFF2-40B4-BE49-F238E27FC236}">
                <a16:creationId xmlns:a16="http://schemas.microsoft.com/office/drawing/2014/main" id="{F462550B-7516-4F48-8DBC-C068CAACE33C}"/>
              </a:ext>
            </a:extLst>
          </p:cNvPr>
          <p:cNvSpPr/>
          <p:nvPr/>
        </p:nvSpPr>
        <p:spPr>
          <a:xfrm>
            <a:off x="2469515" y="463486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화살표: 오른쪽 304">
            <a:extLst>
              <a:ext uri="{FF2B5EF4-FFF2-40B4-BE49-F238E27FC236}">
                <a16:creationId xmlns:a16="http://schemas.microsoft.com/office/drawing/2014/main" id="{A1C7DAB0-A7D1-415F-AA4C-0669F2F1008C}"/>
              </a:ext>
            </a:extLst>
          </p:cNvPr>
          <p:cNvSpPr/>
          <p:nvPr/>
        </p:nvSpPr>
        <p:spPr>
          <a:xfrm>
            <a:off x="5493385" y="463486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화살표: 오른쪽 305">
            <a:extLst>
              <a:ext uri="{FF2B5EF4-FFF2-40B4-BE49-F238E27FC236}">
                <a16:creationId xmlns:a16="http://schemas.microsoft.com/office/drawing/2014/main" id="{28E7E554-AB9B-4EE4-BFAB-16EC1D61621A}"/>
              </a:ext>
            </a:extLst>
          </p:cNvPr>
          <p:cNvSpPr/>
          <p:nvPr/>
        </p:nvSpPr>
        <p:spPr>
          <a:xfrm>
            <a:off x="8629015" y="465264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7" name="도형 1"/>
          <p:cNvCxnSpPr/>
          <p:nvPr/>
        </p:nvCxnSpPr>
        <p:spPr>
          <a:xfrm>
            <a:off x="5777230" y="2150110"/>
            <a:ext cx="635" cy="37839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8" name="도형 2"/>
          <p:cNvCxnSpPr/>
          <p:nvPr/>
        </p:nvCxnSpPr>
        <p:spPr>
          <a:xfrm>
            <a:off x="2769235" y="2156460"/>
            <a:ext cx="1270" cy="37839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485" y="5744210"/>
            <a:ext cx="1184910" cy="1043305"/>
          </a:xfrm>
          <a:prstGeom prst="rect">
            <a:avLst/>
          </a:prstGeom>
        </p:spPr>
      </p:pic>
      <p:pic>
        <p:nvPicPr>
          <p:cNvPr id="100" name="그래픽 99" descr="C:/Users/HIDDLE/AppData/Roaming/PolarisOffice/ETemp/2128_11030056/image5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78" b="36588"/>
          <a:stretch>
            <a:fillRect/>
          </a:stretch>
        </p:blipFill>
        <p:spPr>
          <a:xfrm rot="16200000">
            <a:off x="8597265" y="2850515"/>
            <a:ext cx="4767580" cy="2422525"/>
          </a:xfrm>
          <a:prstGeom prst="rect">
            <a:avLst/>
          </a:prstGeom>
          <a:noFill/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671955"/>
            <a:ext cx="12192635" cy="401955"/>
          </a:xfrm>
          <a:prstGeom prst="rect">
            <a:avLst/>
          </a:prstGeom>
          <a:noFill/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655" y="1273175"/>
            <a:ext cx="10526395" cy="369570"/>
            <a:chOff x="541655" y="1273175"/>
            <a:chExt cx="10526395" cy="369570"/>
          </a:xfrm>
        </p:grpSpPr>
        <p:sp>
          <p:nvSpPr>
            <p:cNvPr id="24" name="TextBox 23"/>
            <p:cNvSpPr txBox="1">
              <a:spLocks/>
            </p:cNvSpPr>
            <p:nvPr/>
          </p:nvSpPr>
          <p:spPr>
            <a:xfrm>
              <a:off x="743585" y="1273175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1-5 </a:t>
              </a:r>
              <a:r>
                <a:rPr lang="ko-KR" altLang="en-US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수행 절차 및 방법</a:t>
              </a:r>
            </a:p>
          </p:txBody>
        </p:sp>
        <p:sp>
          <p:nvSpPr>
            <p:cNvPr id="45" name="그래픽 43"/>
            <p:cNvSpPr>
              <a:spLocks/>
            </p:cNvSpPr>
            <p:nvPr/>
          </p:nvSpPr>
          <p:spPr>
            <a:xfrm>
              <a:off x="541655" y="1382395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/>
        </p:nvGraphicFramePr>
        <p:xfrm>
          <a:off x="294640" y="1758950"/>
          <a:ext cx="11218545" cy="49676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9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구분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9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기간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00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활동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98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비고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사전 기획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아이디어 선정</a:t>
                      </a: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화면 구현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7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수집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11/26(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8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전처리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11/28(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12/3(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업체 자문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모델링 및 서비스 구축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12/4(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2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팀별 중간보고 실시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마무리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15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19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최적화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, 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오류 수정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개발기간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12/19(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4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주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44800"/>
          <a:stretch/>
        </p:blipFill>
        <p:spPr>
          <a:xfrm rot="16200000">
            <a:off x="11243945" y="5770880"/>
            <a:ext cx="935355" cy="960120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705" y="5478145"/>
            <a:ext cx="125095" cy="125095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245610" y="2294255"/>
            <a:ext cx="2553335" cy="327025"/>
            <a:chOff x="4245610" y="2294255"/>
            <a:chExt cx="2553335" cy="32702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245610" y="2294255"/>
              <a:ext cx="2553335" cy="327025"/>
              <a:chOff x="4245610" y="2294255"/>
              <a:chExt cx="2553335" cy="327025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245610" y="2294255"/>
                <a:ext cx="2456815" cy="327025"/>
                <a:chOff x="4245610" y="2294255"/>
                <a:chExt cx="2456815" cy="327025"/>
              </a:xfrm>
            </p:grpSpPr>
            <p:sp>
              <p:nvSpPr>
                <p:cNvPr id="42" name="사각형: 둥근 모서리 41"/>
                <p:cNvSpPr>
                  <a:spLocks/>
                </p:cNvSpPr>
                <p:nvPr/>
              </p:nvSpPr>
              <p:spPr>
                <a:xfrm>
                  <a:off x="4245610" y="2294255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43" name="타원 42"/>
                <p:cNvSpPr>
                  <a:spLocks/>
                </p:cNvSpPr>
                <p:nvPr/>
              </p:nvSpPr>
              <p:spPr>
                <a:xfrm>
                  <a:off x="4245610" y="229425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46" name="TextBox 45"/>
              <p:cNvSpPr txBox="1">
                <a:spLocks/>
              </p:cNvSpPr>
              <p:nvPr/>
            </p:nvSpPr>
            <p:spPr>
              <a:xfrm>
                <a:off x="4598670" y="2326640"/>
                <a:ext cx="220091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프로젝트 기획 및 주제 선정</a:t>
                </a:r>
              </a:p>
            </p:txBody>
          </p:sp>
        </p:grpSp>
        <p:pic>
          <p:nvPicPr>
            <p:cNvPr id="106" name="그래픽 10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1180" y="237236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066915" y="2298065"/>
            <a:ext cx="1445895" cy="327025"/>
            <a:chOff x="7066915" y="2298065"/>
            <a:chExt cx="1445895" cy="327025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066915" y="2298065"/>
              <a:ext cx="1445895" cy="327025"/>
              <a:chOff x="7066915" y="2298065"/>
              <a:chExt cx="1445895" cy="327025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7066915" y="2298065"/>
                <a:ext cx="1445895" cy="327025"/>
                <a:chOff x="7066915" y="2298065"/>
                <a:chExt cx="1445895" cy="327025"/>
              </a:xfrm>
            </p:grpSpPr>
            <p:sp>
              <p:nvSpPr>
                <p:cNvPr id="52" name="사각형: 둥근 모서리 51"/>
                <p:cNvSpPr>
                  <a:spLocks/>
                </p:cNvSpPr>
                <p:nvPr/>
              </p:nvSpPr>
              <p:spPr>
                <a:xfrm>
                  <a:off x="7066915" y="2298065"/>
                  <a:ext cx="144653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53" name="타원 52"/>
                <p:cNvSpPr>
                  <a:spLocks/>
                </p:cNvSpPr>
                <p:nvPr/>
              </p:nvSpPr>
              <p:spPr>
                <a:xfrm>
                  <a:off x="7066915" y="229806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51" name="TextBox 50"/>
              <p:cNvSpPr txBox="1">
                <a:spLocks/>
              </p:cNvSpPr>
              <p:nvPr/>
            </p:nvSpPr>
            <p:spPr>
              <a:xfrm>
                <a:off x="7419975" y="2330450"/>
                <a:ext cx="1028065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기획안 작성</a:t>
                </a:r>
              </a:p>
            </p:txBody>
          </p:sp>
        </p:grpSp>
        <p:pic>
          <p:nvPicPr>
            <p:cNvPr id="107" name="그래픽 10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3595" y="237680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6290945" y="2940050"/>
            <a:ext cx="2474595" cy="327025"/>
            <a:chOff x="6290945" y="2940050"/>
            <a:chExt cx="2474595" cy="32702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6290945" y="2940050"/>
              <a:ext cx="2474595" cy="327025"/>
              <a:chOff x="6290945" y="2940050"/>
              <a:chExt cx="2474595" cy="327025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6290945" y="2940050"/>
                <a:ext cx="2456815" cy="327025"/>
                <a:chOff x="6290945" y="2940050"/>
                <a:chExt cx="2456815" cy="327025"/>
              </a:xfrm>
            </p:grpSpPr>
            <p:sp>
              <p:nvSpPr>
                <p:cNvPr id="61" name="사각형: 둥근 모서리 60"/>
                <p:cNvSpPr>
                  <a:spLocks/>
                </p:cNvSpPr>
                <p:nvPr/>
              </p:nvSpPr>
              <p:spPr>
                <a:xfrm>
                  <a:off x="6290945" y="294005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2" name="타원 61"/>
                <p:cNvSpPr>
                  <a:spLocks/>
                </p:cNvSpPr>
                <p:nvPr/>
              </p:nvSpPr>
              <p:spPr>
                <a:xfrm>
                  <a:off x="629094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0" name="TextBox 59"/>
              <p:cNvSpPr txBox="1">
                <a:spLocks/>
              </p:cNvSpPr>
              <p:nvPr/>
            </p:nvSpPr>
            <p:spPr>
              <a:xfrm>
                <a:off x="6644005" y="2972435"/>
                <a:ext cx="212217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 spc="-2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및 수집 절차 정의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08" name="그래픽 10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515" y="301815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4253865" y="4240530"/>
            <a:ext cx="2109470" cy="327025"/>
            <a:chOff x="4253865" y="4240530"/>
            <a:chExt cx="2109470" cy="327025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4253865" y="4240530"/>
              <a:ext cx="2109470" cy="327025"/>
              <a:chOff x="4253865" y="4240530"/>
              <a:chExt cx="2109470" cy="327025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253865" y="4240530"/>
                <a:ext cx="2109470" cy="327025"/>
                <a:chOff x="4253865" y="4240530"/>
                <a:chExt cx="2109470" cy="327025"/>
              </a:xfrm>
            </p:grpSpPr>
            <p:sp>
              <p:nvSpPr>
                <p:cNvPr id="67" name="사각형: 둥근 모서리 66"/>
                <p:cNvSpPr>
                  <a:spLocks/>
                </p:cNvSpPr>
                <p:nvPr/>
              </p:nvSpPr>
              <p:spPr>
                <a:xfrm>
                  <a:off x="4253865" y="4240530"/>
                  <a:ext cx="211010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8" name="타원 67"/>
                <p:cNvSpPr>
                  <a:spLocks/>
                </p:cNvSpPr>
                <p:nvPr/>
              </p:nvSpPr>
              <p:spPr>
                <a:xfrm>
                  <a:off x="4253865" y="424053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6" name="TextBox 65"/>
              <p:cNvSpPr txBox="1">
                <a:spLocks/>
              </p:cNvSpPr>
              <p:nvPr/>
            </p:nvSpPr>
            <p:spPr>
              <a:xfrm>
                <a:off x="4606925" y="4272915"/>
                <a:ext cx="173482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정제 및 분석</a:t>
                </a:r>
              </a:p>
            </p:txBody>
          </p:sp>
        </p:grpSp>
        <p:pic>
          <p:nvPicPr>
            <p:cNvPr id="109" name="그래픽 108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9910" y="431863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246880" y="3587115"/>
            <a:ext cx="2324735" cy="493395"/>
            <a:chOff x="4246880" y="3587115"/>
            <a:chExt cx="2324735" cy="493395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246880" y="3587115"/>
              <a:ext cx="2324735" cy="493395"/>
              <a:chOff x="4246880" y="3587115"/>
              <a:chExt cx="2324735" cy="493395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246880" y="3587115"/>
                <a:ext cx="2124075" cy="327025"/>
                <a:chOff x="4246880" y="3587115"/>
                <a:chExt cx="2124075" cy="327025"/>
              </a:xfrm>
            </p:grpSpPr>
            <p:sp>
              <p:nvSpPr>
                <p:cNvPr id="73" name="사각형: 둥근 모서리 72"/>
                <p:cNvSpPr>
                  <a:spLocks/>
                </p:cNvSpPr>
                <p:nvPr/>
              </p:nvSpPr>
              <p:spPr>
                <a:xfrm>
                  <a:off x="4246880" y="3587115"/>
                  <a:ext cx="212471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74" name="타원 73"/>
                <p:cNvSpPr>
                  <a:spLocks/>
                </p:cNvSpPr>
                <p:nvPr/>
              </p:nvSpPr>
              <p:spPr>
                <a:xfrm>
                  <a:off x="4246880" y="358711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2" name="TextBox 71"/>
              <p:cNvSpPr txBox="1">
                <a:spLocks/>
              </p:cNvSpPr>
              <p:nvPr/>
            </p:nvSpPr>
            <p:spPr>
              <a:xfrm>
                <a:off x="4599940" y="3619500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기상, 상권 데이터 수집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0" name="그래픽 109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366077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252595" y="4851400"/>
            <a:ext cx="2324735" cy="327025"/>
            <a:chOff x="4252595" y="4851400"/>
            <a:chExt cx="2324735" cy="327025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252595" y="4851400"/>
              <a:ext cx="2324735" cy="327025"/>
              <a:chOff x="4252595" y="4851400"/>
              <a:chExt cx="2324735" cy="327025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252595" y="4851400"/>
                <a:ext cx="1341755" cy="327025"/>
                <a:chOff x="4252595" y="4851400"/>
                <a:chExt cx="1341755" cy="327025"/>
              </a:xfrm>
            </p:grpSpPr>
            <p:sp>
              <p:nvSpPr>
                <p:cNvPr id="79" name="사각형: 둥근 모서리 78"/>
                <p:cNvSpPr>
                  <a:spLocks/>
                </p:cNvSpPr>
                <p:nvPr/>
              </p:nvSpPr>
              <p:spPr>
                <a:xfrm>
                  <a:off x="4252595" y="4851400"/>
                  <a:ext cx="134239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0" name="타원 79"/>
                <p:cNvSpPr>
                  <a:spLocks/>
                </p:cNvSpPr>
                <p:nvPr/>
              </p:nvSpPr>
              <p:spPr>
                <a:xfrm>
                  <a:off x="4252595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8" name="TextBox 77"/>
              <p:cNvSpPr txBox="1">
                <a:spLocks/>
              </p:cNvSpPr>
              <p:nvPr/>
            </p:nvSpPr>
            <p:spPr>
              <a:xfrm>
                <a:off x="4605655" y="4884420"/>
                <a:ext cx="197231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모델 구현</a:t>
                </a:r>
              </a:p>
            </p:txBody>
          </p:sp>
        </p:grpSp>
        <p:pic>
          <p:nvPicPr>
            <p:cNvPr id="116" name="그래픽 115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165" y="492252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246880" y="5516880"/>
            <a:ext cx="2474595" cy="327025"/>
            <a:chOff x="4246880" y="5516880"/>
            <a:chExt cx="2474595" cy="327025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246880" y="5516880"/>
              <a:ext cx="2474595" cy="327025"/>
              <a:chOff x="4246880" y="5516880"/>
              <a:chExt cx="2474595" cy="327025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246880" y="5516880"/>
                <a:ext cx="2456815" cy="327025"/>
                <a:chOff x="4246880" y="5516880"/>
                <a:chExt cx="2456815" cy="327025"/>
              </a:xfrm>
            </p:grpSpPr>
            <p:sp>
              <p:nvSpPr>
                <p:cNvPr id="85" name="사각형: 둥근 모서리 84"/>
                <p:cNvSpPr>
                  <a:spLocks/>
                </p:cNvSpPr>
                <p:nvPr/>
              </p:nvSpPr>
              <p:spPr>
                <a:xfrm>
                  <a:off x="4246880" y="551688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6" name="타원 85"/>
                <p:cNvSpPr>
                  <a:spLocks/>
                </p:cNvSpPr>
                <p:nvPr/>
              </p:nvSpPr>
              <p:spPr>
                <a:xfrm>
                  <a:off x="4246880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84" name="TextBox 83"/>
              <p:cNvSpPr txBox="1">
                <a:spLocks/>
              </p:cNvSpPr>
              <p:nvPr/>
            </p:nvSpPr>
            <p:spPr>
              <a:xfrm>
                <a:off x="4599940" y="554926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추천 엔진 최적화</a:t>
                </a:r>
              </a:p>
            </p:txBody>
          </p:sp>
        </p:grpSp>
        <p:pic>
          <p:nvPicPr>
            <p:cNvPr id="117" name="그래픽 116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056755" y="5516880"/>
            <a:ext cx="1845945" cy="327025"/>
            <a:chOff x="7056755" y="5516880"/>
            <a:chExt cx="1845945" cy="327025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056755" y="5516880"/>
              <a:ext cx="1845945" cy="327025"/>
              <a:chOff x="7056755" y="5516880"/>
              <a:chExt cx="1845945" cy="327025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7056755" y="5516880"/>
                <a:ext cx="1706880" cy="327025"/>
                <a:chOff x="7056755" y="5516880"/>
                <a:chExt cx="1706880" cy="327025"/>
              </a:xfrm>
            </p:grpSpPr>
            <p:sp>
              <p:nvSpPr>
                <p:cNvPr id="91" name="사각형: 둥근 모서리 90"/>
                <p:cNvSpPr>
                  <a:spLocks/>
                </p:cNvSpPr>
                <p:nvPr/>
              </p:nvSpPr>
              <p:spPr>
                <a:xfrm>
                  <a:off x="7056755" y="551688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2" name="타원 91"/>
                <p:cNvSpPr>
                  <a:spLocks/>
                </p:cNvSpPr>
                <p:nvPr/>
              </p:nvSpPr>
              <p:spPr>
                <a:xfrm>
                  <a:off x="7056755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0" name="TextBox 89"/>
              <p:cNvSpPr txBox="1">
                <a:spLocks/>
              </p:cNvSpPr>
              <p:nvPr/>
            </p:nvSpPr>
            <p:spPr>
              <a:xfrm>
                <a:off x="7409815" y="5549265"/>
                <a:ext cx="149352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ko-KR" sz="1200" spc="-3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테스트 및 점검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8" name="그래픽 117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80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05E0AFF-FD55-4F2F-B8EF-6A49EF49427D}"/>
              </a:ext>
            </a:extLst>
          </p:cNvPr>
          <p:cNvGrpSpPr/>
          <p:nvPr/>
        </p:nvGrpSpPr>
        <p:grpSpPr>
          <a:xfrm>
            <a:off x="4250055" y="2940050"/>
            <a:ext cx="1812925" cy="327025"/>
            <a:chOff x="4250055" y="2940050"/>
            <a:chExt cx="1812925" cy="327025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B729665-2402-4976-908F-269A87997924}"/>
                </a:ext>
              </a:extLst>
            </p:cNvPr>
            <p:cNvGrpSpPr/>
            <p:nvPr/>
          </p:nvGrpSpPr>
          <p:grpSpPr>
            <a:xfrm>
              <a:off x="4250055" y="2940050"/>
              <a:ext cx="1812925" cy="327025"/>
              <a:chOff x="4250055" y="2940050"/>
              <a:chExt cx="1812925" cy="327025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F7794D7-16E0-4FB8-96C0-DFAB03B48202}"/>
                  </a:ext>
                </a:extLst>
              </p:cNvPr>
              <p:cNvGrpSpPr/>
              <p:nvPr/>
            </p:nvGrpSpPr>
            <p:grpSpPr>
              <a:xfrm>
                <a:off x="4250055" y="2940050"/>
                <a:ext cx="1706880" cy="327025"/>
                <a:chOff x="4250055" y="2940050"/>
                <a:chExt cx="1706880" cy="327025"/>
              </a:xfrm>
            </p:grpSpPr>
            <p:sp>
              <p:nvSpPr>
                <p:cNvPr id="96" name="사각형: 둥근 모서리 95"/>
                <p:cNvSpPr>
                  <a:spLocks/>
                </p:cNvSpPr>
                <p:nvPr/>
              </p:nvSpPr>
              <p:spPr>
                <a:xfrm>
                  <a:off x="4250055" y="294005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7" name="타원 96"/>
                <p:cNvSpPr>
                  <a:spLocks/>
                </p:cNvSpPr>
                <p:nvPr/>
              </p:nvSpPr>
              <p:spPr>
                <a:xfrm>
                  <a:off x="425005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5" name="TextBox 94"/>
              <p:cNvSpPr txBox="1">
                <a:spLocks/>
              </p:cNvSpPr>
              <p:nvPr/>
            </p:nvSpPr>
            <p:spPr>
              <a:xfrm>
                <a:off x="4603115" y="2972435"/>
                <a:ext cx="146050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웹 디자인</a:t>
                </a:r>
                <a:r>
                  <a:rPr lang="en-US" altLang="ko-KR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(HTML)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93" name="그래픽 9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6100" y="301879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7A4C581-97FC-4661-917D-4B41E0C0D2D8}"/>
              </a:ext>
            </a:extLst>
          </p:cNvPr>
          <p:cNvGrpSpPr/>
          <p:nvPr/>
        </p:nvGrpSpPr>
        <p:grpSpPr>
          <a:xfrm>
            <a:off x="6322060" y="4851400"/>
            <a:ext cx="2474595" cy="327025"/>
            <a:chOff x="6322060" y="4851400"/>
            <a:chExt cx="2474595" cy="327025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8D7BC3F7-8949-450F-92C5-74477AC8BD62}"/>
                </a:ext>
              </a:extLst>
            </p:cNvPr>
            <p:cNvGrpSpPr/>
            <p:nvPr/>
          </p:nvGrpSpPr>
          <p:grpSpPr>
            <a:xfrm>
              <a:off x="6322060" y="4851400"/>
              <a:ext cx="2474595" cy="327025"/>
              <a:chOff x="6322060" y="4851400"/>
              <a:chExt cx="2474595" cy="327025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B54FEE5-856A-407F-B809-C865AC19674C}"/>
                  </a:ext>
                </a:extLst>
              </p:cNvPr>
              <p:cNvGrpSpPr/>
              <p:nvPr/>
            </p:nvGrpSpPr>
            <p:grpSpPr>
              <a:xfrm>
                <a:off x="6322060" y="4851400"/>
                <a:ext cx="2456815" cy="327025"/>
                <a:chOff x="6322060" y="4851400"/>
                <a:chExt cx="2456815" cy="327025"/>
              </a:xfrm>
            </p:grpSpPr>
            <p:sp>
              <p:nvSpPr>
                <p:cNvPr id="112" name="사각형: 둥근 모서리 111"/>
                <p:cNvSpPr>
                  <a:spLocks/>
                </p:cNvSpPr>
                <p:nvPr/>
              </p:nvSpPr>
              <p:spPr>
                <a:xfrm>
                  <a:off x="6322060" y="485140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13" name="타원 112"/>
                <p:cNvSpPr>
                  <a:spLocks/>
                </p:cNvSpPr>
                <p:nvPr/>
              </p:nvSpPr>
              <p:spPr>
                <a:xfrm>
                  <a:off x="6322060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11" name="TextBox 110"/>
              <p:cNvSpPr txBox="1">
                <a:spLocks/>
              </p:cNvSpPr>
              <p:nvPr/>
            </p:nvSpPr>
            <p:spPr>
              <a:xfrm>
                <a:off x="6675120" y="488378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 서버 및 DB 구축</a:t>
                </a:r>
              </a:p>
            </p:txBody>
          </p:sp>
        </p:grpSp>
        <p:pic>
          <p:nvPicPr>
            <p:cNvPr id="103" name="그래픽 102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7630" y="493014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0" name="그룹 11"/>
          <p:cNvGrpSpPr/>
          <p:nvPr/>
        </p:nvGrpSpPr>
        <p:grpSpPr>
          <a:xfrm>
            <a:off x="6739255" y="3587750"/>
            <a:ext cx="2325370" cy="494030"/>
            <a:chOff x="6739255" y="3587750"/>
            <a:chExt cx="2325370" cy="494030"/>
          </a:xfrm>
        </p:grpSpPr>
        <p:grpSp>
          <p:nvGrpSpPr>
            <p:cNvPr id="121" name="그룹 9"/>
            <p:cNvGrpSpPr/>
            <p:nvPr/>
          </p:nvGrpSpPr>
          <p:grpSpPr>
            <a:xfrm>
              <a:off x="6739255" y="3587750"/>
              <a:ext cx="2325370" cy="494030"/>
              <a:chOff x="6739255" y="3587750"/>
              <a:chExt cx="2325370" cy="494030"/>
            </a:xfrm>
          </p:grpSpPr>
          <p:grpSp>
            <p:nvGrpSpPr>
              <p:cNvPr id="122" name="그룹 7"/>
              <p:cNvGrpSpPr/>
              <p:nvPr/>
            </p:nvGrpSpPr>
            <p:grpSpPr>
              <a:xfrm>
                <a:off x="6739255" y="3587750"/>
                <a:ext cx="1898650" cy="327660"/>
                <a:chOff x="6739255" y="3587750"/>
                <a:chExt cx="1898650" cy="327660"/>
              </a:xfrm>
            </p:grpSpPr>
            <p:sp>
              <p:nvSpPr>
                <p:cNvPr id="123" name="도형 5"/>
                <p:cNvSpPr>
                  <a:spLocks/>
                </p:cNvSpPr>
                <p:nvPr/>
              </p:nvSpPr>
              <p:spPr>
                <a:xfrm>
                  <a:off x="6739255" y="3587750"/>
                  <a:ext cx="18986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24" name="도형 6"/>
                <p:cNvSpPr>
                  <a:spLocks/>
                </p:cNvSpPr>
                <p:nvPr/>
              </p:nvSpPr>
              <p:spPr>
                <a:xfrm>
                  <a:off x="6739255" y="35877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25" name="텍스트 상자 8"/>
              <p:cNvSpPr txBox="1">
                <a:spLocks/>
              </p:cNvSpPr>
              <p:nvPr/>
            </p:nvSpPr>
            <p:spPr>
              <a:xfrm>
                <a:off x="7092315" y="3620135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네이버 리뷰 크롤링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26" name="그림 10" descr="C:/Users/HIDDLE/AppData/Roaming/PolarisOffice/ETemp/2128_11030056/image84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4825" y="3661410"/>
              <a:ext cx="150495" cy="1809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데이터 구성</a:t>
            </a: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aphicFrame>
        <p:nvGraphicFramePr>
          <p:cNvPr id="15" name="표 16">
            <a:extLst>
              <a:ext uri="{FF2B5EF4-FFF2-40B4-BE49-F238E27FC236}">
                <a16:creationId xmlns:a16="http://schemas.microsoft.com/office/drawing/2014/main" id="{523CB92F-E11D-4389-A2A5-FDA813379F41}"/>
              </a:ext>
            </a:extLst>
          </p:cNvPr>
          <p:cNvGraphicFramePr>
            <a:graphicFrameLocks noGrp="1"/>
          </p:cNvGraphicFramePr>
          <p:nvPr/>
        </p:nvGraphicFramePr>
        <p:xfrm>
          <a:off x="1811524" y="2384884"/>
          <a:ext cx="8496945" cy="4120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315">
                  <a:extLst>
                    <a:ext uri="{9D8B030D-6E8A-4147-A177-3AD203B41FA5}">
                      <a16:colId xmlns:a16="http://schemas.microsoft.com/office/drawing/2014/main" val="4160449000"/>
                    </a:ext>
                  </a:extLst>
                </a:gridCol>
                <a:gridCol w="2963982">
                  <a:extLst>
                    <a:ext uri="{9D8B030D-6E8A-4147-A177-3AD203B41FA5}">
                      <a16:colId xmlns:a16="http://schemas.microsoft.com/office/drawing/2014/main" val="1129780896"/>
                    </a:ext>
                  </a:extLst>
                </a:gridCol>
                <a:gridCol w="2700648">
                  <a:extLst>
                    <a:ext uri="{9D8B030D-6E8A-4147-A177-3AD203B41FA5}">
                      <a16:colId xmlns:a16="http://schemas.microsoft.com/office/drawing/2014/main" val="3971269362"/>
                    </a:ext>
                  </a:extLst>
                </a:gridCol>
              </a:tblGrid>
              <a:tr h="824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수집방법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711909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위치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</a:t>
                      </a:r>
                      <a:r>
                        <a:rPr lang="ko-KR" altLang="en-US" dirty="0" err="1"/>
                        <a:t>위〮경도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Geolocation API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67260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날씨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시간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강수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latinLnBrk="1"/>
                      <a:r>
                        <a:rPr lang="ko-KR" altLang="en-US" dirty="0"/>
                        <a:t>습도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풍속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구름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기상청 종관기상관측</a:t>
                      </a:r>
                      <a:r>
                        <a:rPr lang="en-US" altLang="ko-KR" dirty="0"/>
                        <a:t>(ASOS) </a:t>
                      </a:r>
                      <a:r>
                        <a:rPr lang="ko-KR" altLang="en-US" dirty="0"/>
                        <a:t>자료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59982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리뷰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상세리뷰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작성일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긍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부정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latinLnBrk="1"/>
                      <a:r>
                        <a:rPr lang="ko-KR" altLang="en-US" dirty="0"/>
                        <a:t>리뷰 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네이버 </a:t>
                      </a:r>
                      <a:r>
                        <a:rPr lang="ko-KR" altLang="en-US" dirty="0" err="1"/>
                        <a:t>플레이스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크롤링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542800"/>
                  </a:ext>
                </a:extLst>
              </a:tr>
              <a:tr h="8241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음식점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가게이름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위〮경도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주소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latinLnBrk="1"/>
                      <a:r>
                        <a:rPr lang="ko-KR" altLang="en-US" dirty="0"/>
                        <a:t>업종분류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공공데이터포털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소상공인 상가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상권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956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727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날씨 데이터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기상청 종관기상관측 자료 활용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A28A671-4EFB-40B1-9B30-63752030101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85"/>
          <a:stretch/>
        </p:blipFill>
        <p:spPr>
          <a:xfrm>
            <a:off x="539115" y="2575102"/>
            <a:ext cx="5276683" cy="3724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D1F6023-90B7-4836-891B-9591E094819F}"/>
              </a:ext>
            </a:extLst>
          </p:cNvPr>
          <p:cNvSpPr txBox="1"/>
          <p:nvPr/>
        </p:nvSpPr>
        <p:spPr>
          <a:xfrm>
            <a:off x="6300309" y="3073847"/>
            <a:ext cx="47165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추천엔진을 학습시키기 위한 기상청의 관측자료 수집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필요없는</a:t>
            </a:r>
            <a:r>
              <a:rPr lang="ko-KR" altLang="en-US" dirty="0"/>
              <a:t> 피처 제거 후 데이터 특성 파악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습도와</a:t>
            </a:r>
            <a:r>
              <a:rPr lang="en-US" altLang="ko-KR" dirty="0"/>
              <a:t> </a:t>
            </a:r>
            <a:r>
              <a:rPr lang="ko-KR" altLang="en-US" dirty="0"/>
              <a:t>기온이 활동성이 높고 강수와 </a:t>
            </a:r>
            <a:r>
              <a:rPr lang="ko-KR" altLang="en-US" dirty="0" err="1"/>
              <a:t>적설등은</a:t>
            </a:r>
            <a:r>
              <a:rPr lang="ko-KR" altLang="en-US" dirty="0"/>
              <a:t> 상대적으로 변동이 적음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날씨 데이터는 추천엔진 학습에 사용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서비스 중에는 직접적인 활용</a:t>
            </a:r>
            <a:r>
              <a:rPr lang="en-US" altLang="ko-KR" dirty="0"/>
              <a:t>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리뷰 데이터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수집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F645A1-1783-4FE2-A331-096FD145B909}"/>
              </a:ext>
            </a:extLst>
          </p:cNvPr>
          <p:cNvSpPr txBox="1"/>
          <p:nvPr/>
        </p:nvSpPr>
        <p:spPr>
          <a:xfrm>
            <a:off x="760730" y="2537777"/>
            <a:ext cx="11017224" cy="2774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용도 </a:t>
            </a:r>
            <a:r>
              <a:rPr lang="en-US" altLang="ko-KR" dirty="0"/>
              <a:t>: </a:t>
            </a:r>
            <a:r>
              <a:rPr lang="ko-KR" altLang="en-US" dirty="0"/>
              <a:t>음식점 </a:t>
            </a:r>
            <a:r>
              <a:rPr lang="ko-KR" altLang="en-US" dirty="0" err="1"/>
              <a:t>추천시</a:t>
            </a:r>
            <a:r>
              <a:rPr lang="ko-KR" altLang="en-US" dirty="0"/>
              <a:t> 추천의 품질을 높이기 위해 리뷰 데이터를 </a:t>
            </a:r>
            <a:r>
              <a:rPr lang="ko-KR" altLang="en-US" dirty="0" err="1"/>
              <a:t>긍</a:t>
            </a:r>
            <a:r>
              <a:rPr lang="en-US" altLang="ko-KR" dirty="0"/>
              <a:t>/</a:t>
            </a:r>
            <a:r>
              <a:rPr lang="ko-KR" altLang="en-US" dirty="0"/>
              <a:t>부정 </a:t>
            </a:r>
            <a:r>
              <a:rPr lang="ko-KR" altLang="en-US" dirty="0" err="1"/>
              <a:t>라벨링하여</a:t>
            </a:r>
            <a:r>
              <a:rPr lang="ko-KR" altLang="en-US" dirty="0"/>
              <a:t> 활용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수집 대상 </a:t>
            </a:r>
            <a:r>
              <a:rPr lang="en-US" altLang="ko-KR" dirty="0"/>
              <a:t>: </a:t>
            </a:r>
            <a:r>
              <a:rPr lang="ko-KR" altLang="en-US" dirty="0"/>
              <a:t>네이버 </a:t>
            </a:r>
            <a:r>
              <a:rPr lang="ko-KR" altLang="en-US" dirty="0" err="1"/>
              <a:t>플레이스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수집 방법 </a:t>
            </a:r>
            <a:r>
              <a:rPr lang="en-US" altLang="ko-KR" dirty="0"/>
              <a:t>: </a:t>
            </a:r>
            <a:r>
              <a:rPr lang="ko-KR" altLang="en-US" dirty="0" err="1"/>
              <a:t>셀리니움을</a:t>
            </a:r>
            <a:r>
              <a:rPr lang="ko-KR" altLang="en-US" dirty="0"/>
              <a:t> 이용하여 수집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수집 결과 </a:t>
            </a:r>
            <a:r>
              <a:rPr lang="en-US" altLang="ko-KR" dirty="0"/>
              <a:t>: 5</a:t>
            </a:r>
            <a:r>
              <a:rPr lang="ko-KR" altLang="en-US" dirty="0" err="1"/>
              <a:t>만건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수집 데이터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26B0762-794A-4828-AE49-1B653742C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9534" y="4945334"/>
            <a:ext cx="6980952" cy="14476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43257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3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리뷰 데이터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수집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A447974-24F6-4D83-910C-3126F374C2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6" y="2591838"/>
            <a:ext cx="5053360" cy="369332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24B32F5-FB76-4F7F-B817-6A269A8AC864}"/>
              </a:ext>
            </a:extLst>
          </p:cNvPr>
          <p:cNvSpPr txBox="1"/>
          <p:nvPr/>
        </p:nvSpPr>
        <p:spPr>
          <a:xfrm>
            <a:off x="6197587" y="2658348"/>
            <a:ext cx="47165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상가목록에서 음식점 명을 추출해 네이버 </a:t>
            </a:r>
            <a:r>
              <a:rPr lang="ko-KR" altLang="en-US" dirty="0" err="1"/>
              <a:t>플레이스</a:t>
            </a:r>
            <a:r>
              <a:rPr lang="ko-KR" altLang="en-US" dirty="0"/>
              <a:t> 약 </a:t>
            </a:r>
            <a:r>
              <a:rPr lang="en-US" altLang="ko-KR" dirty="0"/>
              <a:t>5</a:t>
            </a:r>
            <a:r>
              <a:rPr lang="ko-KR" altLang="en-US" dirty="0" err="1"/>
              <a:t>만건의</a:t>
            </a:r>
            <a:r>
              <a:rPr lang="ko-KR" altLang="en-US" dirty="0"/>
              <a:t> 리뷰  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진행 중 </a:t>
            </a:r>
            <a:r>
              <a:rPr lang="en-US" altLang="ko-KR" dirty="0"/>
              <a:t>iframe</a:t>
            </a:r>
            <a:r>
              <a:rPr lang="ko-KR" altLang="en-US" dirty="0"/>
              <a:t>간의 전환이나 </a:t>
            </a:r>
            <a:r>
              <a:rPr lang="ko-KR" altLang="en-US" dirty="0" err="1"/>
              <a:t>봇감지에</a:t>
            </a:r>
            <a:r>
              <a:rPr lang="ko-KR" altLang="en-US" dirty="0"/>
              <a:t> 대응하는 부분이 특히 어려웠다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time.sleep</a:t>
            </a:r>
            <a:r>
              <a:rPr lang="en-US" altLang="ko-KR" dirty="0"/>
              <a:t>() </a:t>
            </a:r>
            <a:r>
              <a:rPr lang="ko-KR" altLang="en-US" dirty="0"/>
              <a:t>이나 </a:t>
            </a:r>
            <a:r>
              <a:rPr lang="en-US" altLang="ko-KR" dirty="0" err="1"/>
              <a:t>WebDriverWait</a:t>
            </a:r>
            <a:r>
              <a:rPr lang="en-US" altLang="ko-KR" dirty="0"/>
              <a:t>()</a:t>
            </a:r>
            <a:r>
              <a:rPr lang="ko-KR" altLang="en-US" dirty="0"/>
              <a:t>으로 대기시간을 많이 주어 대응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</a:t>
            </a:r>
            <a:r>
              <a:rPr lang="ko-KR" altLang="en-US" dirty="0" err="1"/>
              <a:t>가게별</a:t>
            </a:r>
            <a:r>
              <a:rPr lang="ko-KR" altLang="en-US" dirty="0"/>
              <a:t> 리뷰 수와 위치정보</a:t>
            </a:r>
            <a:r>
              <a:rPr lang="en-US" altLang="ko-KR" dirty="0"/>
              <a:t>, </a:t>
            </a:r>
            <a:r>
              <a:rPr lang="ko-KR" altLang="en-US" dirty="0"/>
              <a:t>리뷰  긍정도를 이용해 음식점을 추천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31790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 descr="C:/Users/HIDDLE/AppData/Roaming/PolarisOffice/ETemp/2128_11030056/image40.png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리뷰 데이터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전처리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D9F891-917E-4916-8236-95093A9DAF6A}"/>
              </a:ext>
            </a:extLst>
          </p:cNvPr>
          <p:cNvSpPr txBox="1"/>
          <p:nvPr/>
        </p:nvSpPr>
        <p:spPr>
          <a:xfrm>
            <a:off x="715850" y="2456892"/>
            <a:ext cx="11017224" cy="1112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 err="1"/>
              <a:t>라벨링</a:t>
            </a:r>
            <a:r>
              <a:rPr lang="ko-KR" altLang="en-US" dirty="0"/>
              <a:t> </a:t>
            </a:r>
            <a:r>
              <a:rPr lang="en-US" altLang="ko-KR" dirty="0"/>
              <a:t>: TF-IDF</a:t>
            </a:r>
            <a:r>
              <a:rPr lang="ko-KR" altLang="en-US" dirty="0"/>
              <a:t> 기반 단어추출 후 </a:t>
            </a:r>
            <a:r>
              <a:rPr lang="ko-KR" altLang="en-US" dirty="0" err="1"/>
              <a:t>벡터임베딩을</a:t>
            </a:r>
            <a:r>
              <a:rPr lang="ko-KR" altLang="en-US" dirty="0"/>
              <a:t> 통해 유사도 측정 후 </a:t>
            </a:r>
            <a:r>
              <a:rPr lang="ko-KR" altLang="en-US" dirty="0" err="1"/>
              <a:t>긍</a:t>
            </a:r>
            <a:r>
              <a:rPr lang="en-US" altLang="ko-KR" dirty="0"/>
              <a:t>/</a:t>
            </a:r>
            <a:r>
              <a:rPr lang="ko-KR" altLang="en-US" dirty="0"/>
              <a:t>부정 판단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처리절차 </a:t>
            </a:r>
            <a:r>
              <a:rPr lang="en-US" altLang="ko-KR" dirty="0"/>
              <a:t>: </a:t>
            </a:r>
            <a:r>
              <a:rPr lang="ko-KR" altLang="en-US" dirty="0"/>
              <a:t>형태소 분석 </a:t>
            </a:r>
            <a:r>
              <a:rPr lang="en-US" altLang="ko-KR" dirty="0"/>
              <a:t>&gt; </a:t>
            </a:r>
            <a:r>
              <a:rPr lang="ko-KR" altLang="en-US" b="1" dirty="0" err="1"/>
              <a:t>불용어</a:t>
            </a:r>
            <a:r>
              <a:rPr lang="ko-KR" altLang="en-US" b="1" dirty="0"/>
              <a:t> 제거</a:t>
            </a:r>
            <a:r>
              <a:rPr lang="en-US" altLang="ko-KR" b="1" dirty="0"/>
              <a:t> </a:t>
            </a:r>
            <a:r>
              <a:rPr lang="en-US" altLang="ko-KR" dirty="0"/>
              <a:t>&gt; TF-IDF </a:t>
            </a:r>
            <a:r>
              <a:rPr lang="ko-KR" altLang="en-US" dirty="0"/>
              <a:t>추출 </a:t>
            </a:r>
            <a:r>
              <a:rPr lang="en-US" altLang="ko-KR" dirty="0"/>
              <a:t>&gt; </a:t>
            </a:r>
            <a:r>
              <a:rPr lang="ko-KR" altLang="en-US" dirty="0" err="1"/>
              <a:t>긍</a:t>
            </a:r>
            <a:r>
              <a:rPr lang="en-US" altLang="ko-KR" dirty="0"/>
              <a:t>/</a:t>
            </a:r>
            <a:r>
              <a:rPr lang="ko-KR" altLang="en-US" dirty="0"/>
              <a:t>부정 판단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4BA754A-8313-44C8-A605-FF92A7AB2797}"/>
              </a:ext>
            </a:extLst>
          </p:cNvPr>
          <p:cNvGrpSpPr/>
          <p:nvPr/>
        </p:nvGrpSpPr>
        <p:grpSpPr>
          <a:xfrm>
            <a:off x="1844257" y="3878715"/>
            <a:ext cx="8986363" cy="2442210"/>
            <a:chOff x="1844257" y="3878715"/>
            <a:chExt cx="8986363" cy="2442210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31B6466-1EA5-475B-872D-E15F01535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44257" y="4106766"/>
              <a:ext cx="8986363" cy="186347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18359A7-F5B2-4AF4-AEA0-34F17D6D1720}"/>
                </a:ext>
              </a:extLst>
            </p:cNvPr>
            <p:cNvSpPr/>
            <p:nvPr/>
          </p:nvSpPr>
          <p:spPr>
            <a:xfrm>
              <a:off x="8376456" y="3878715"/>
              <a:ext cx="1440160" cy="244221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920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pic>
        <p:nvPicPr>
          <p:cNvPr id="31" name="Picture " descr="C:/Users/HIDDLE/AppData/Roaming/PolarisOffice/ETemp/2128_11030056/image41.png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–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특성 추출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(1/2)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B45816FF-588C-4773-A784-E1D3CEB3A0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2580132"/>
            <a:ext cx="7880985" cy="382700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FC0C485-06A1-453A-B34A-85C0B2E039D0}"/>
              </a:ext>
            </a:extLst>
          </p:cNvPr>
          <p:cNvSpPr txBox="1"/>
          <p:nvPr/>
        </p:nvSpPr>
        <p:spPr>
          <a:xfrm>
            <a:off x="8548180" y="2675295"/>
            <a:ext cx="3524484" cy="1112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/>
              <a:t>데이터 특성 파악 후 불필요한 피처 제거</a:t>
            </a:r>
            <a:endParaRPr lang="en-US" altLang="ko-KR" b="1" dirty="0"/>
          </a:p>
        </p:txBody>
      </p:sp>
      <p:pic>
        <p:nvPicPr>
          <p:cNvPr id="40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EF425C6A-E2D1-416B-9E8E-625850D83E6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0796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pic>
        <p:nvPicPr>
          <p:cNvPr id="31" name="Picture " descr="C:/Users/HIDDLE/AppData/Roaming/PolarisOffice/ETemp/2128_11030056/image41.png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–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특성 추출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(2/2)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74C36C8A-B029-4044-81D0-02FD8C72A60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43"/>
          <a:stretch/>
        </p:blipFill>
        <p:spPr>
          <a:xfrm>
            <a:off x="2891644" y="3107423"/>
            <a:ext cx="5287645" cy="3214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2F70F13-E309-42CA-AF57-9025467EFA3E}"/>
              </a:ext>
            </a:extLst>
          </p:cNvPr>
          <p:cNvSpPr txBox="1"/>
          <p:nvPr/>
        </p:nvSpPr>
        <p:spPr>
          <a:xfrm>
            <a:off x="8519826" y="2557145"/>
            <a:ext cx="3364834" cy="1666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/>
              <a:t>계절성이 없는 음식 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카테고리는 제거 하였으며 </a:t>
            </a:r>
            <a:br>
              <a:rPr lang="en-US" altLang="ko-KR" dirty="0"/>
            </a:br>
            <a:r>
              <a:rPr lang="ko-KR" altLang="en-US" dirty="0"/>
              <a:t>위도 경도 컬럼을 추가</a:t>
            </a:r>
            <a:endParaRPr lang="en-US" altLang="ko-KR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DCA71417-7AAA-4AC8-97BD-5129FBFFA1D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46" y="2413766"/>
            <a:ext cx="4476765" cy="217391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1DF704C-F98A-4F8F-9559-5506D2375D1C}"/>
              </a:ext>
            </a:extLst>
          </p:cNvPr>
          <p:cNvSpPr/>
          <p:nvPr/>
        </p:nvSpPr>
        <p:spPr>
          <a:xfrm>
            <a:off x="6888088" y="2747634"/>
            <a:ext cx="1368152" cy="382906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굽음 14">
            <a:extLst>
              <a:ext uri="{FF2B5EF4-FFF2-40B4-BE49-F238E27FC236}">
                <a16:creationId xmlns:a16="http://schemas.microsoft.com/office/drawing/2014/main" id="{1053F569-0BF2-41DF-82AA-FD439BE76D45}"/>
              </a:ext>
            </a:extLst>
          </p:cNvPr>
          <p:cNvSpPr/>
          <p:nvPr/>
        </p:nvSpPr>
        <p:spPr>
          <a:xfrm flipV="1">
            <a:off x="1734694" y="4662164"/>
            <a:ext cx="864096" cy="601964"/>
          </a:xfrm>
          <a:prstGeom prst="ben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6EF387-B9D8-44AB-8228-2D7066A675E3}"/>
              </a:ext>
            </a:extLst>
          </p:cNvPr>
          <p:cNvSpPr txBox="1"/>
          <p:nvPr/>
        </p:nvSpPr>
        <p:spPr>
          <a:xfrm>
            <a:off x="987425" y="5333512"/>
            <a:ext cx="16113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특성 추출 </a:t>
            </a:r>
            <a:endParaRPr lang="en-US" altLang="ko-KR" sz="1300" dirty="0"/>
          </a:p>
          <a:p>
            <a:r>
              <a:rPr lang="ko-KR" altLang="en-US" sz="1300" dirty="0"/>
              <a:t>및 위</a:t>
            </a:r>
            <a:r>
              <a:rPr lang="en-US" altLang="ko-KR" sz="1300" dirty="0"/>
              <a:t>/</a:t>
            </a:r>
            <a:r>
              <a:rPr lang="ko-KR" altLang="en-US" sz="1300" dirty="0"/>
              <a:t>경도 추가</a:t>
            </a:r>
            <a:endParaRPr lang="en-US" altLang="ko-KR" sz="1300" dirty="0"/>
          </a:p>
        </p:txBody>
      </p:sp>
      <p:pic>
        <p:nvPicPr>
          <p:cNvPr id="41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21122297-53C4-4996-8119-A9811DE1D50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6305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데이터베이스 설계</a:t>
            </a:r>
          </a:p>
        </p:txBody>
      </p:sp>
      <p:pic>
        <p:nvPicPr>
          <p:cNvPr id="31" name="Picture " descr="C:/Users/HIDDLE/AppData/Roaming/PolarisOffice/ETemp/2128_11030056/image41.png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ERD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설계</a:t>
              </a: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DB2C066F-9010-4429-ADCA-96C3631C06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0" y="2464554"/>
            <a:ext cx="6102805" cy="390467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C0A5784-ECCE-4F65-9983-8AB674047CD4}"/>
              </a:ext>
            </a:extLst>
          </p:cNvPr>
          <p:cNvSpPr txBox="1"/>
          <p:nvPr/>
        </p:nvSpPr>
        <p:spPr>
          <a:xfrm>
            <a:off x="7318895" y="2459034"/>
            <a:ext cx="3959553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수집한 상가목록</a:t>
            </a:r>
            <a:r>
              <a:rPr lang="en-US" altLang="ko-KR" b="1" dirty="0"/>
              <a:t>, </a:t>
            </a:r>
            <a:r>
              <a:rPr lang="ko-KR" altLang="en-US" b="1" dirty="0"/>
              <a:t>리뷰목록과 서비스하며 </a:t>
            </a:r>
            <a:r>
              <a:rPr lang="ko-KR" altLang="en-US" b="1" dirty="0" err="1"/>
              <a:t>얻게될</a:t>
            </a:r>
            <a:r>
              <a:rPr lang="ko-KR" altLang="en-US" b="1" dirty="0"/>
              <a:t> 추천로그</a:t>
            </a:r>
            <a:r>
              <a:rPr lang="en-US" altLang="ko-KR" b="1" dirty="0"/>
              <a:t>, </a:t>
            </a:r>
            <a:r>
              <a:rPr lang="ko-KR" altLang="en-US" b="1" dirty="0"/>
              <a:t>사용자 입력 등 필요한 정보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800" b="1" dirty="0">
              <a:ln>
                <a:solidFill>
                  <a:schemeClr val="bg1"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 데이터를 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csv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가 아닌 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저장하여 보관</a:t>
            </a:r>
            <a:endParaRPr lang="en-US" altLang="ko-KR" b="1" dirty="0">
              <a:ln>
                <a:solidFill>
                  <a:schemeClr val="bg1"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800" b="1" dirty="0">
              <a:ln>
                <a:solidFill>
                  <a:schemeClr val="bg1"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로그와 히스토리를 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보관하여 추천엔진을 모니터링</a:t>
            </a:r>
            <a:endParaRPr lang="en-US" altLang="ko-KR" b="1" dirty="0">
              <a:ln>
                <a:solidFill>
                  <a:schemeClr val="bg1"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1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C6D1C64A-4221-419F-BD97-430822552AE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3097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567"/>
            <a:chOff x="375920" y="333375"/>
            <a:chExt cx="5949315" cy="1205567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10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요구분석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(1/2)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31" name="Picture " descr="C:/Users/HIDDLE/AppData/Roaming/PolarisOffice/ETemp/2128_11030056/image41.png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유즈케이스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설계</a:t>
              </a: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41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C6D1C64A-4221-419F-BD97-430822552AE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27" name="그림 3" descr="C:/Users/HIDDLE/AppData/Roaming/PolarisOffice/ETemp/2128_11030056/image89.png">
            <a:extLst>
              <a:ext uri="{FF2B5EF4-FFF2-40B4-BE49-F238E27FC236}">
                <a16:creationId xmlns:a16="http://schemas.microsoft.com/office/drawing/2014/main" id="{FF6062F7-1D14-490A-AAFB-9FE694F827D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89" y="2858692"/>
            <a:ext cx="10345421" cy="32213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8977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C6D1C64A-4221-419F-BD97-430822552A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요구분석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(2/2)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31" name="Picture " descr="C:/Users/HIDDLE/AppData/Roaming/PolarisOffice/ETemp/2128_11030056/image41.png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시퀀스 다이어그램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–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사용자 접속</a:t>
              </a: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28839E5D-782C-4179-BE7B-6463CC7F5A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580" y="2539422"/>
            <a:ext cx="6729610" cy="400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07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C6D1C64A-4221-419F-BD97-430822552A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데이터 수집 및 처리 과정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요구분석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(2/2)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31" name="Picture " descr="C:/Users/HIDDLE/AppData/Roaming/PolarisOffice/ETemp/2128_11030056/image41.png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시퀀스 다이어그램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음식추천</a:t>
              </a: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DD260EB2-BBA4-438C-BD88-2BDEE5E15E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628" y="2620673"/>
            <a:ext cx="6431117" cy="36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6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5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데이터베이스 설계</a:t>
            </a: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ERD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설계</a:t>
              </a: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14B63E81-EAAF-4B90-A3E6-F8ADA7785AD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0" y="2464554"/>
            <a:ext cx="6102805" cy="39046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6798A05-0A50-464E-91E6-3B1874C060DC}"/>
              </a:ext>
            </a:extLst>
          </p:cNvPr>
          <p:cNvSpPr txBox="1"/>
          <p:nvPr/>
        </p:nvSpPr>
        <p:spPr>
          <a:xfrm>
            <a:off x="7318895" y="2459034"/>
            <a:ext cx="3959553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수집한 상가목록</a:t>
            </a:r>
            <a:r>
              <a:rPr lang="en-US" altLang="ko-KR" b="1" dirty="0"/>
              <a:t>, </a:t>
            </a:r>
            <a:r>
              <a:rPr lang="ko-KR" altLang="en-US" b="1" dirty="0"/>
              <a:t>리뷰목록과 서비스하며 </a:t>
            </a:r>
            <a:r>
              <a:rPr lang="ko-KR" altLang="en-US" b="1" dirty="0" err="1"/>
              <a:t>얻게될</a:t>
            </a:r>
            <a:r>
              <a:rPr lang="ko-KR" altLang="en-US" b="1" dirty="0"/>
              <a:t> 추천로그</a:t>
            </a:r>
            <a:r>
              <a:rPr lang="en-US" altLang="ko-KR" b="1" dirty="0"/>
              <a:t>, </a:t>
            </a:r>
            <a:r>
              <a:rPr lang="ko-KR" altLang="en-US" b="1" dirty="0"/>
              <a:t>사용자 입력 등 필요한 정보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800" b="1" dirty="0">
              <a:ln>
                <a:solidFill>
                  <a:schemeClr val="bg1"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음식점 데이터를 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csv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가 아닌 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저장하여 보관</a:t>
            </a:r>
            <a:endParaRPr lang="en-US" altLang="ko-KR" b="1" dirty="0">
              <a:ln>
                <a:solidFill>
                  <a:schemeClr val="bg1"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800" b="1" dirty="0">
              <a:ln>
                <a:solidFill>
                  <a:schemeClr val="bg1"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로그와 히스토리를 </a:t>
            </a:r>
            <a:r>
              <a: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보관하여 추천엔진을 모니터링</a:t>
            </a:r>
            <a:endParaRPr lang="en-US" altLang="ko-KR" b="1" dirty="0">
              <a:ln>
                <a:solidFill>
                  <a:schemeClr val="bg1"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4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1532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핵심기능 설계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4-1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화면 설계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(1/3)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메인화면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843A9EB-DDED-4769-AEB6-598D2660B9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727" y="2636203"/>
            <a:ext cx="4720067" cy="360235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590265F-993D-4C9E-A1BA-DF1E944749D6}"/>
              </a:ext>
            </a:extLst>
          </p:cNvPr>
          <p:cNvSpPr txBox="1"/>
          <p:nvPr/>
        </p:nvSpPr>
        <p:spPr>
          <a:xfrm>
            <a:off x="7017616" y="2667635"/>
            <a:ext cx="4716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Geolocation API</a:t>
            </a:r>
            <a:r>
              <a:rPr lang="ko-KR" altLang="en-US" dirty="0"/>
              <a:t>로 위치정보</a:t>
            </a:r>
            <a:r>
              <a:rPr lang="en-US" altLang="ko-KR" dirty="0"/>
              <a:t> </a:t>
            </a:r>
            <a:r>
              <a:rPr lang="ko-KR" altLang="en-US" dirty="0"/>
              <a:t>활용 요청을 보낸다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동의 시 사용자의 위치좌표를 얻어 </a:t>
            </a:r>
            <a:r>
              <a:rPr lang="en-US" altLang="ko-KR" dirty="0" err="1"/>
              <a:t>kakao</a:t>
            </a:r>
            <a:r>
              <a:rPr lang="en-US" altLang="ko-KR" dirty="0"/>
              <a:t> API</a:t>
            </a:r>
            <a:r>
              <a:rPr lang="ko-KR" altLang="en-US" dirty="0"/>
              <a:t>에 해당 좌표의 주소를 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지도 업데이트 후 서버에 수집된 정보   전달</a:t>
            </a:r>
          </a:p>
        </p:txBody>
      </p:sp>
    </p:spTree>
    <p:extLst>
      <p:ext uri="{BB962C8B-B14F-4D97-AF65-F5344CB8AC3E}">
        <p14:creationId xmlns:p14="http://schemas.microsoft.com/office/powerpoint/2010/main" val="3632255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핵심기능 설계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4-1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화면 설계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(2/3)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접속위치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5BFFB042-AD0E-49B9-8118-6C50F86DA86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71"/>
          <a:stretch/>
        </p:blipFill>
        <p:spPr>
          <a:xfrm>
            <a:off x="1820307" y="2667635"/>
            <a:ext cx="2761786" cy="35171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A62207A-9DAF-4B8E-A178-00A4AC299FAF}"/>
              </a:ext>
            </a:extLst>
          </p:cNvPr>
          <p:cNvSpPr txBox="1"/>
          <p:nvPr/>
        </p:nvSpPr>
        <p:spPr>
          <a:xfrm>
            <a:off x="5369197" y="2786652"/>
            <a:ext cx="47165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브라우저에서 보낸 위치정보를 </a:t>
            </a:r>
            <a:r>
              <a:rPr lang="en-US" altLang="ko-KR" dirty="0"/>
              <a:t>LCC DFS</a:t>
            </a:r>
            <a:r>
              <a:rPr lang="ko-KR" altLang="en-US" dirty="0"/>
              <a:t>좌표 </a:t>
            </a:r>
            <a:r>
              <a:rPr lang="ko-KR" altLang="en-US" dirty="0" err="1"/>
              <a:t>변환모듈로</a:t>
            </a:r>
            <a:r>
              <a:rPr lang="ko-KR" altLang="en-US" dirty="0"/>
              <a:t> 변환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변환된 좌표를 기상청 동네예보 </a:t>
            </a:r>
            <a:r>
              <a:rPr lang="en-US" altLang="ko-KR" dirty="0"/>
              <a:t>API</a:t>
            </a:r>
            <a:r>
              <a:rPr lang="ko-KR" altLang="en-US" dirty="0"/>
              <a:t>에  전달해 해당 지역의 날씨를 요청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음식추천 알고리즘 적용 후 날씨정보를 업데이트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297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핵심기능 설계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4-1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화면 설계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(3/3)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날씨 기반 추천 엔진</a:t>
              </a: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D136C11-B10A-4F79-81AC-2B5EB09511F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20" r="56934"/>
          <a:stretch/>
        </p:blipFill>
        <p:spPr>
          <a:xfrm>
            <a:off x="1431696" y="2612708"/>
            <a:ext cx="3577692" cy="376364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D9DFA52-142C-47E5-B870-DC6BA18C0D62}"/>
              </a:ext>
            </a:extLst>
          </p:cNvPr>
          <p:cNvSpPr txBox="1"/>
          <p:nvPr/>
        </p:nvSpPr>
        <p:spPr>
          <a:xfrm>
            <a:off x="5774137" y="2596922"/>
            <a:ext cx="47165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사전 학습시킨 추천엔진에 전달해 날씨에 맞는 음식 카테고리를 </a:t>
            </a:r>
            <a:r>
              <a:rPr lang="ko-KR" altLang="en-US" dirty="0" err="1"/>
              <a:t>추천받는다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브라우저에서 얻은 기타정보와 추천 목록을 로그로 남기고 클라이언트에 돌려준다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8598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2128_11030056/image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 descr="C:/Users/HIDDLE/AppData/Roaming/PolarisOffice/ETemp/2128_11030056/image8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핵심기능 설계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04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2128_11030056/image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 descr="C:/Users/HIDDLE/AppData/Roaming/PolarisOffice/ETemp/2128_11030056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 descr="C:/Users/HIDDLE/AppData/Roaming/PolarisOffice/ETemp/2128_11030056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4-2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구현 화면</a:t>
            </a: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날씨 기반 추천 엔진</a:t>
              </a: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 descr="C:/Users/HIDDLE/AppData/Roaming/PolarisOffice/ETemp/2128_11030056/image40.png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9026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훈련생 발표 영상이 아닌 세부 기능 소개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화면 구동 및 기능 동작 여부 시연영상으로 제작한다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775" y="3135630"/>
            <a:ext cx="2550795" cy="541655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0" y="5284470"/>
            <a:ext cx="1369695" cy="157353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5920" y="333375"/>
            <a:ext cx="5948680" cy="830997"/>
            <a:chOff x="375920" y="333375"/>
            <a:chExt cx="5948680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향후 계획 및 기대효과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06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1060"/>
            <a:ext cx="12192000" cy="2336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655" y="1539240"/>
            <a:ext cx="100965" cy="113665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655" y="2407920"/>
            <a:ext cx="5363845" cy="1748790"/>
            <a:chOff x="541655" y="2407920"/>
            <a:chExt cx="5363845" cy="1748790"/>
          </a:xfrm>
        </p:grpSpPr>
        <p:sp>
          <p:nvSpPr>
            <p:cNvPr id="12" name="사각형: 둥근 모서리 11"/>
            <p:cNvSpPr>
              <a:spLocks/>
            </p:cNvSpPr>
            <p:nvPr/>
          </p:nvSpPr>
          <p:spPr>
            <a:xfrm>
              <a:off x="5416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0" name="직사각형 19"/>
            <p:cNvSpPr>
              <a:spLocks/>
            </p:cNvSpPr>
            <p:nvPr/>
          </p:nvSpPr>
          <p:spPr>
            <a:xfrm rot="5400000">
              <a:off x="3176905" y="234950"/>
              <a:ext cx="94615" cy="4440555"/>
            </a:xfrm>
            <a:prstGeom prst="rect">
              <a:avLst/>
            </a:prstGeom>
            <a:solidFill>
              <a:srgbClr val="3378C8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12495" y="2900045"/>
              <a:ext cx="4623435" cy="3924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655" y="4490720"/>
            <a:ext cx="5364480" cy="1749425"/>
            <a:chOff x="541655" y="4490720"/>
            <a:chExt cx="5364480" cy="1749425"/>
          </a:xfrm>
        </p:grpSpPr>
        <p:sp>
          <p:nvSpPr>
            <p:cNvPr id="15" name="사각형: 둥근 모서리 14"/>
            <p:cNvSpPr>
              <a:spLocks/>
            </p:cNvSpPr>
            <p:nvPr/>
          </p:nvSpPr>
          <p:spPr>
            <a:xfrm>
              <a:off x="541655" y="44907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 dirty="0"/>
            </a:p>
          </p:txBody>
        </p:sp>
        <p:sp>
          <p:nvSpPr>
            <p:cNvPr id="44" name="직사각형 43"/>
            <p:cNvSpPr>
              <a:spLocks/>
            </p:cNvSpPr>
            <p:nvPr/>
          </p:nvSpPr>
          <p:spPr>
            <a:xfrm rot="5400000">
              <a:off x="3176905" y="23177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0" name="TextBox 49"/>
            <p:cNvSpPr txBox="1">
              <a:spLocks/>
            </p:cNvSpPr>
            <p:nvPr/>
          </p:nvSpPr>
          <p:spPr>
            <a:xfrm>
              <a:off x="912495" y="4731802"/>
              <a:ext cx="4623435" cy="139974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sz="1800" b="1" dirty="0" err="1"/>
                <a:t>ㆍ</a:t>
              </a:r>
              <a:r>
                <a:rPr lang="ko-KR" altLang="en-US" dirty="0" err="1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개인</a:t>
              </a: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 또는 우리 팀이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아쉬운 점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로깅 기능 </a:t>
              </a:r>
              <a:r>
                <a:rPr lang="ko-KR" altLang="en-US" dirty="0" err="1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미구현</a:t>
              </a:r>
              <a:endParaRPr lang="en-US" altLang="ko-KR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예측 데이터를 미리 </a:t>
              </a:r>
              <a:r>
                <a:rPr lang="ko-KR" altLang="en-US" dirty="0" err="1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로드하여</a:t>
              </a:r>
              <a:endParaRPr lang="en-US" altLang="ko-KR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더욱 빠른 반응성 향상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990" y="4490720"/>
            <a:ext cx="5363845" cy="1748790"/>
            <a:chOff x="6396355" y="4490720"/>
            <a:chExt cx="5363845" cy="17487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355" y="4490720"/>
              <a:ext cx="5363845" cy="17487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605" y="2317750"/>
              <a:ext cx="93980" cy="443992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6875" y="5019040"/>
              <a:ext cx="4622800" cy="3919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177915" y="613410"/>
            <a:ext cx="5582920" cy="3543935"/>
            <a:chOff x="6177915" y="613410"/>
            <a:chExt cx="5582920" cy="3543935"/>
          </a:xfrm>
        </p:grpSpPr>
        <p:sp>
          <p:nvSpPr>
            <p:cNvPr id="14" name="사각형: 둥근 모서리 13"/>
            <p:cNvSpPr>
              <a:spLocks/>
            </p:cNvSpPr>
            <p:nvPr/>
          </p:nvSpPr>
          <p:spPr>
            <a:xfrm>
              <a:off x="63963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3" name="직사각형 42"/>
            <p:cNvSpPr>
              <a:spLocks/>
            </p:cNvSpPr>
            <p:nvPr/>
          </p:nvSpPr>
          <p:spPr>
            <a:xfrm rot="5400000">
              <a:off x="9031605" y="2349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9" name="TextBox 48"/>
            <p:cNvSpPr txBox="1">
              <a:spLocks/>
            </p:cNvSpPr>
            <p:nvPr/>
          </p:nvSpPr>
          <p:spPr>
            <a:xfrm>
              <a:off x="6177915" y="613410"/>
              <a:ext cx="2835910" cy="46228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모델 평가 결과</a:t>
              </a:r>
              <a: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정확도가 </a:t>
              </a:r>
              <a: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00.00%</a:t>
              </a: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</a:t>
              </a:r>
              <a:br>
                <a:rPr lang="en-US" altLang="ko-KR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</a:br>
              <a:r>
                <a:rPr lang="ko-KR" altLang="en-US" sz="1200" dirty="0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정확도 향상을 위해 모델 추후 개선 필요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460" y="4326890"/>
            <a:ext cx="138430" cy="1384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9" name="_x278651016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62" name="텍스트 상자 1"/>
          <p:cNvSpPr txBox="1">
            <a:spLocks/>
          </p:cNvSpPr>
          <p:nvPr/>
        </p:nvSpPr>
        <p:spPr>
          <a:xfrm>
            <a:off x="6708068" y="2636912"/>
            <a:ext cx="4623435" cy="10673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sz="1800" b="1"/>
              <a:t>ㆍ</a:t>
            </a:r>
            <a:r>
              <a: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rgbClr val="FFC000"/>
                </a:solidFill>
                <a:latin typeface="세방고딕 Regular" charset="0"/>
                <a:ea typeface="세방고딕 Regular" charset="0"/>
              </a:rPr>
              <a:t>기대</a:t>
            </a: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rgbClr val="FFC000"/>
                </a:solidFill>
                <a:latin typeface="세방고딕 Regular" charset="0"/>
                <a:ea typeface="세방고딕 Regular" charset="0"/>
              </a:rPr>
              <a:t> 효과</a:t>
            </a:r>
            <a:endParaRPr lang="en-US" altLang="ko-KR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rgbClr val="FFC000"/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사용자 결정 피로 감소</a:t>
            </a:r>
            <a:endParaRPr lang="en-US" altLang="ko-KR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상황 맞춤 추천으로 만족도 향상</a:t>
            </a:r>
          </a:p>
        </p:txBody>
      </p:sp>
      <p:sp>
        <p:nvSpPr>
          <p:cNvPr id="36" name="텍스트 상자 1">
            <a:extLst>
              <a:ext uri="{FF2B5EF4-FFF2-40B4-BE49-F238E27FC236}">
                <a16:creationId xmlns:a16="http://schemas.microsoft.com/office/drawing/2014/main" id="{436AA4A6-E79E-425B-94D2-873416323E19}"/>
              </a:ext>
            </a:extLst>
          </p:cNvPr>
          <p:cNvSpPr txBox="1">
            <a:spLocks/>
          </p:cNvSpPr>
          <p:nvPr/>
        </p:nvSpPr>
        <p:spPr>
          <a:xfrm>
            <a:off x="821055" y="2649003"/>
            <a:ext cx="4623435" cy="151054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algn="ctr"/>
            <a:r>
              <a:rPr lang="ko-KR" altLang="en-US" sz="1800" b="1" dirty="0" err="1"/>
              <a:t>ㆍ</a:t>
            </a:r>
            <a:r>
              <a:rPr lang="ko-KR" altLang="en-US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향후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계획</a:t>
            </a:r>
            <a:endParaRPr lang="en-US" altLang="ko-KR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데이터 품질 향상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모델 튜닝 및 변수 추가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실시간 피드백 시스템 구축</a:t>
            </a:r>
          </a:p>
          <a:p>
            <a:pPr algn="ctr">
              <a:lnSpc>
                <a:spcPct val="120000"/>
              </a:lnSpc>
              <a:defRPr/>
            </a:pPr>
            <a:endParaRPr lang="ko-KR" altLang="en-US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latin typeface="세방고딕 Regular" charset="0"/>
              <a:ea typeface="세방고딕 Regular" panose="0000050000000000000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96B687-73BF-4A6B-86BE-4205D82E3C6A}"/>
              </a:ext>
            </a:extLst>
          </p:cNvPr>
          <p:cNvSpPr txBox="1"/>
          <p:nvPr/>
        </p:nvSpPr>
        <p:spPr>
          <a:xfrm>
            <a:off x="6539586" y="4689140"/>
            <a:ext cx="4921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 err="1"/>
              <a:t>ㆍ</a:t>
            </a:r>
            <a:r>
              <a:rPr lang="ko-KR" altLang="en-US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성과</a:t>
            </a:r>
            <a:endParaRPr lang="en-US" altLang="ko-KR" dirty="0">
              <a:solidFill>
                <a:schemeClr val="bg2">
                  <a:lumMod val="25000"/>
                </a:schemeClr>
              </a:solidFill>
              <a:ea typeface="세방고딕 Regular" panose="00000500000000000000"/>
            </a:endParaRP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다양한 데이터셋 적용 실험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모델 </a:t>
            </a:r>
            <a:r>
              <a:rPr lang="ko-KR" altLang="en-US" dirty="0" err="1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해석력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 강화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사용자 맞춤형 기능 개발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결과 시각화 도구 개선</a:t>
            </a:r>
          </a:p>
        </p:txBody>
      </p:sp>
    </p:spTree>
    <p:extLst>
      <p:ext uri="{BB962C8B-B14F-4D97-AF65-F5344CB8AC3E}">
        <p14:creationId xmlns:p14="http://schemas.microsoft.com/office/powerpoint/2010/main" val="698920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Pages>34</Pages>
  <Words>1201</Words>
  <Characters>0</Characters>
  <Application>Microsoft Office PowerPoint</Application>
  <DocSecurity>0</DocSecurity>
  <PresentationFormat>와이드스크린</PresentationFormat>
  <Lines>0</Lines>
  <Paragraphs>304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52</cp:revision>
  <dcterms:modified xsi:type="dcterms:W3CDTF">2025-12-18T07:40:00Z</dcterms:modified>
  <cp:version>9.103.82.44099</cp:version>
</cp:coreProperties>
</file>